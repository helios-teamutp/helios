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914400"/>
            <a:ext cx="3657600" cy="45720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5029200"/>
            <a:ext cx="3657600" cy="2743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3DDC97"/>
                </a:solidFill>
                <a:latin typeface="Calibri"/>
              </a:rPr>
              <a:t>Sistema de Citas Médicas Unificadas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Daily Scrum · Sprint 1 · UTP Calidad de Software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DDC97"/>
                </a:solidFill>
                <a:latin typeface="Calibri"/>
              </a:rP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Marian Barba · Ashley Martinez · Ethan Gonzalez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Alejandro Saenz · José Brown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DAILY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2A36"/>
                </a:solidFill>
                <a:latin typeface="Calibri"/>
              </a:rPr>
              <a:t>Las 3 preguntas Scrum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¿QUÉ HICIMOS?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Esta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Dashboard de médicos en producción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Agendamiento end-to-end probado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RLS estricto por rol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17 bugs detectados y resueltos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55+ tests automatizados pasando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Deploy en Railway funcionando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¿QUÉ HAREMOS?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Próximo laboratorio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Optimizar carga inicial (&lt;2s)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Cancelar y reprogramar citas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Notificaciones por email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SonarCloud integrado a CI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Tests E2E con Playwright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Locust con 500 usuarios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¿BLOQUEOS?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Problemas reales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Spinner lento al refrescar (&gt;10s)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RLS sin índice clave (resuelto)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Doble carga de perfil (resuelto)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Supabase free: 200 usuarios máx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MCP no veía HELIOS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A8A04"/>
                </a:solidFill>
                <a:latin typeface="Calibri"/>
              </a:rPr>
              <a:t>•  </a:t>
            </a:r>
            <a:r>
              <a:rPr sz="1200" b="0">
                <a:solidFill>
                  <a:srgbClr val="0F2A36"/>
                </a:solidFill>
                <a:latin typeface="Calibri"/>
              </a:rPr>
              <a:t>Trabajado en vivo con el 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Marian · Scrum Master · 30s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0F2A36"/>
                </a:solidFill>
                <a:latin typeface="Calibri"/>
              </a:rPr>
              <a:t>Escanee este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A6B7A"/>
                </a:solidFill>
                <a:latin typeface="Calibri"/>
              </a:rPr>
              <a:t>y agende una cita médica desde su celular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651760"/>
            <a:ext cx="3200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URL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108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Railway · Docker · Vite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github.com/MarianC-programing/Helios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Ashley · QA · 45s demo 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AVANCE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36"/>
                </a:solidFill>
                <a:latin typeface="Calibri"/>
              </a:rPr>
              <a:t>Lo que construimos y cómo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5778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FRONTEND · Ethan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2120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1  </a:t>
            </a:r>
            <a:r>
              <a:rPr sz="1300" b="0">
                <a:solidFill>
                  <a:srgbClr val="0F2A36"/>
                </a:solidFill>
                <a:latin typeface="Calibri"/>
              </a:rPr>
              <a:t>Wizard de 4 pasos (móvil)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2  </a:t>
            </a:r>
            <a:r>
              <a:rPr sz="1300" b="0">
                <a:solidFill>
                  <a:srgbClr val="0F2A36"/>
                </a:solidFill>
                <a:latin typeface="Calibri"/>
              </a:rPr>
              <a:t>Dashboard del médico con agenda + ficha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0A8478"/>
                </a:solidFill>
                <a:latin typeface="Calibri"/>
              </a:rPr>
              <a:t>3  </a:t>
            </a:r>
            <a:r>
              <a:rPr sz="1300" b="0">
                <a:solidFill>
                  <a:srgbClr val="0F2A36"/>
                </a:solidFill>
                <a:latin typeface="Calibri"/>
              </a:rPr>
              <a:t>React + TypeScript · Validación cédula PA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A6B7A"/>
                </a:solidFill>
                <a:latin typeface="Calibri"/>
              </a:rPr>
              <a:t>→  </a:t>
            </a:r>
            <a:r>
              <a:rPr sz="1200" b="0">
                <a:solidFill>
                  <a:srgbClr val="4A6B7A"/>
                </a:solidFill>
                <a:latin typeface="Calibri"/>
              </a:rPr>
              <a:t>9 componentes · Tailwind con tema HELIOS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55778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577840" cy="4572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BACKEND · Alejandro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52120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1FA89B"/>
                </a:solidFill>
                <a:latin typeface="Calibri"/>
              </a:rPr>
              <a:t>1  </a:t>
            </a:r>
            <a:r>
              <a:rPr sz="1300" b="0">
                <a:solidFill>
                  <a:srgbClr val="0F2A36"/>
                </a:solidFill>
                <a:latin typeface="Calibri"/>
              </a:rPr>
              <a:t>Supabase: DB + Auth + API automática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1FA89B"/>
                </a:solidFill>
                <a:latin typeface="Calibri"/>
              </a:rPr>
              <a:t>2  </a:t>
            </a:r>
            <a:r>
              <a:rPr sz="1300" b="0">
                <a:solidFill>
                  <a:srgbClr val="0F2A36"/>
                </a:solidFill>
                <a:latin typeface="Calibri"/>
              </a:rPr>
              <a:t>RPC SQL atómica (evita doble reserva)</a:t>
            </a:r>
          </a:p>
          <a:p>
            <a:pPr algn="l">
              <a:spcAft>
                <a:spcPts val="1400"/>
              </a:spcAft>
            </a:pPr>
            <a:r>
              <a:rPr sz="1300" b="1">
                <a:solidFill>
                  <a:srgbClr val="1FA89B"/>
                </a:solidFill>
                <a:latin typeface="Calibri"/>
              </a:rPr>
              <a:t>3  </a:t>
            </a:r>
            <a:r>
              <a:rPr sz="1300" b="0">
                <a:solidFill>
                  <a:srgbClr val="0F2A36"/>
                </a:solidFill>
                <a:latin typeface="Calibri"/>
              </a:rPr>
              <a:t>Row Level Security por rol (no solo UI)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A6B7A"/>
                </a:solidFill>
                <a:latin typeface="Calibri"/>
              </a:rPr>
              <a:t>→  </a:t>
            </a:r>
            <a:r>
              <a:rPr sz="1200" b="0">
                <a:solidFill>
                  <a:srgbClr val="4A6B7A"/>
                </a:solidFill>
                <a:latin typeface="Calibri"/>
              </a:rPr>
              <a:t>6 tablas · 14 policies · 1 RPC SECURITY DEFINER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Ethan (20s) + Alejandro (20s)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ISTQB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411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Pruebas · Defectos · Cobertura · Esfuerzo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36"/>
                </a:solidFill>
                <a:latin typeface="Calibri"/>
              </a:rPr>
              <a:t>Lo que medimos según ISTQB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" cy="219456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A8478"/>
                </a:solidFill>
                <a:latin typeface="Calibri"/>
              </a:rPr>
              <a:t>55+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Tests automatizados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74320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Vitest + RTL.
Todos pasan. Threshold ≥60% activo.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109728" cy="219456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A89B"/>
                </a:solidFill>
                <a:latin typeface="Calibri"/>
              </a:rPr>
              <a:t>61.4%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94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Cobertura de 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74320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Statements 61.4% · Functions 90.9%.
Build falla si baja de 60%.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09728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3DDC97"/>
                </a:solidFill>
                <a:latin typeface="Calibri"/>
              </a:rPr>
              <a:t>300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Latencia P95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7492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Locust con 200 usuarios concurrentes.
Meta era 2s. Lo superamos 6.6×.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1605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160520"/>
            <a:ext cx="109728" cy="21945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CA8A04"/>
                </a:solidFill>
                <a:latin typeface="Calibri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526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2A36"/>
                </a:solidFill>
                <a:latin typeface="Calibri"/>
              </a:rPr>
              <a:t>Defectos cazados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507492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Detectados y resueltos.
Tasa: 7.4 bugs/KLOC. Trazables en repo.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José · PO · ISTQB · 20s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TMMi + TQM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411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Madurez del proceso y mejora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2A36"/>
                </a:solidFill>
                <a:latin typeface="Calibri"/>
              </a:rPr>
              <a:t>Calidad del proceso y mejora continua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577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TMMi · Madurez del proceso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Política de pruebas documentada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Plan de pruebas trazable (cada bug tiene su test)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Métricas registradas por sprint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Code review obligatorio antes de merge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A8478"/>
                </a:solidFill>
                <a:latin typeface="Calibri"/>
              </a:rPr>
              <a:t>✓  </a:t>
            </a:r>
            <a:r>
              <a:rPr sz="1200" b="0">
                <a:solidFill>
                  <a:srgbClr val="0F2A36"/>
                </a:solidFill>
                <a:latin typeface="Calibri"/>
              </a:rPr>
              <a:t>Threshold automático en CI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4F6B"/>
                </a:solidFill>
                <a:latin typeface="Calibri"/>
              </a:rPr>
              <a:t>→  </a:t>
            </a:r>
            <a:r>
              <a:rPr sz="1200" b="1">
                <a:solidFill>
                  <a:srgbClr val="0A4F6B"/>
                </a:solidFill>
                <a:latin typeface="Calibri"/>
              </a:rPr>
              <a:t>Nivel estimado: 2 (Gestionado) → camino a 3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5778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577840" cy="4572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TQM · Mejora continua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1460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PO prueba el deploy real antes de cada demo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Bugs detectados en vivo se arreglan en la sesión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Cada bug genera test de regresión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Plan Mode obligatorio antes de tocar código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A89B"/>
                </a:solidFill>
                <a:latin typeface="Calibri"/>
              </a:rPr>
              <a:t>↻  </a:t>
            </a:r>
            <a:r>
              <a:rPr sz="1200" b="0">
                <a:solidFill>
                  <a:srgbClr val="0F2A36"/>
                </a:solidFill>
                <a:latin typeface="Calibri"/>
              </a:rPr>
              <a:t>Documentación viva (CLAUDE.md, decisiones)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A4F6B"/>
                </a:solidFill>
                <a:latin typeface="Calibri"/>
              </a:rPr>
              <a:t>→  </a:t>
            </a:r>
            <a:r>
              <a:rPr sz="1200" b="1">
                <a:solidFill>
                  <a:srgbClr val="0A4F6B"/>
                </a:solidFill>
                <a:latin typeface="Calibri"/>
              </a:rPr>
              <a:t>Honestidad: deudas técnicas reconocidas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José · PO · TMMi + TQM · 20s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0A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REGISTRO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2A36"/>
                </a:solidFill>
                <a:latin typeface="Calibri"/>
              </a:rPr>
              <a:t>Métricas categorizadas + Herramientas + Kanban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476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REQUERIMIENTOS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82880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5 US (US-01 a US-05), 100% completadas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DISEÑO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3172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9 componentes · 6 tablas SQL · 1 RPC atómica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83464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971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2.3 KLOC · 600 LOC tests · 9 commits firmados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564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DEFECTOS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33756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17 bugs cazados · 17 resueltos · 7.4 bugs/KLOC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593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ESFUERZO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84048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977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53 SP · 37 completados · 5 en progreso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828800" cy="5029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62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PRODUCTIVIDAD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34340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0.28 KLOC/persona · 2 deploys/día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HERRAMIENTAS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82880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1828800"/>
            <a:ext cx="73152" cy="7315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9 commits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82880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1828800"/>
            <a:ext cx="73152" cy="73152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9B"/>
                </a:solidFill>
                <a:latin typeface="Calibri"/>
              </a:rPr>
              <a:t>Jira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21 issues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182880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41280" y="1828800"/>
            <a:ext cx="73152" cy="7315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C97"/>
                </a:solidFill>
                <a:latin typeface="Calibri"/>
              </a:rPr>
              <a:t>Vitest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2128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55+ tests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65176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2651760"/>
            <a:ext cx="73152" cy="73152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A8A04"/>
                </a:solidFill>
                <a:latin typeface="Calibri"/>
              </a:rPr>
              <a:t>Locust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P95 300ms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265176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2651760"/>
            <a:ext cx="73152" cy="73152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4F6B"/>
                </a:solidFill>
                <a:latin typeface="Calibri"/>
              </a:rPr>
              <a:t>Supabase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BD + Auth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2651760"/>
            <a:ext cx="1737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80" y="2651760"/>
            <a:ext cx="73152" cy="73152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7844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Railway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Deploy CI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TABLERO KANBAN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416052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0" y="4160520"/>
            <a:ext cx="109728" cy="64008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8478"/>
                </a:solidFill>
                <a:latin typeface="Calibri"/>
              </a:rPr>
              <a:t>Done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5079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17 bugs + 5 US Sprint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484632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0" y="4846320"/>
            <a:ext cx="109728" cy="64008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656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9B"/>
                </a:solidFill>
                <a:latin typeface="Calibri"/>
              </a:rPr>
              <a:t>In Progress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1937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Cancelar/reprogramar cita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553212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83680" y="5532120"/>
            <a:ext cx="109728" cy="64008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0" y="5623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A8A04"/>
                </a:solidFill>
                <a:latin typeface="Calibri"/>
              </a:rPr>
              <a:t>To 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58795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5 historias para Sprint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José · PO · Métricas + Herramientas + Kanban · 20s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6B7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5029200"/>
            <a:ext cx="6400800" cy="2743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-1828800"/>
            <a:ext cx="4572000" cy="36576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3DDC97"/>
                </a:solidFill>
                <a:latin typeface="Calibri"/>
              </a:rPr>
              <a:t>Gracias profesora y compañeros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github.com/MarianC-programing/Helios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9EC0452FB2B240B64E052BD150B41B" ma:contentTypeVersion="0" ma:contentTypeDescription="Create a new document." ma:contentTypeScope="" ma:versionID="51e52df121a2b05b9d33c50d5ada356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83DA3E-B0FF-45F6-B2E7-2D0BE01814ED}"/>
</file>

<file path=customXml/itemProps2.xml><?xml version="1.0" encoding="utf-8"?>
<ds:datastoreItem xmlns:ds="http://schemas.openxmlformats.org/officeDocument/2006/customXml" ds:itemID="{4708F6AB-9740-48ED-B21F-593F4F55D247}"/>
</file>

<file path=customXml/itemProps3.xml><?xml version="1.0" encoding="utf-8"?>
<ds:datastoreItem xmlns:ds="http://schemas.openxmlformats.org/officeDocument/2006/customXml" ds:itemID="{3BBA83AA-D7C7-4FC0-9853-762353E80CE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0x010100369EC0452FB2B240B64E052BD150B41B</vt:lpwstr>
  </property>
</Properties>
</file>