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4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7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9.xml"/><Relationship Id="rId14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914400"/>
            <a:ext cx="3657600" cy="45720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DAILY SCRUM · 18-19 JUNIO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Calibri"/>
              </a:rPr>
              <a:t>HELIOS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0" i="0">
                <a:solidFill>
                  <a:srgbClr val="3DDC97"/>
                </a:solidFill>
                <a:latin typeface="Calibri"/>
              </a:rPr>
              <a:t>Sprint Notificaciones — campanita + correo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Parcial 2 · Unidad II: Calidad de Software (ISTQB · TMMi · TQM)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DDC97"/>
                </a:solidFill>
                <a:latin typeface="Calibri"/>
              </a:rPr>
              <a:t>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José Brown (PO)  ·  Ethan Gonzalez (Frontend)  · 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Ashley Martinez (QA)  ·  Marian Barba (Scrum Master)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DAILY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Las 3 preguntas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5029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¿QUÉ HICIMOS?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0A8478"/>
                </a:solidFill>
                <a:latin typeface="Calibri"/>
              </a:rPr>
              <a:t>•  </a:t>
            </a:r>
            <a:r>
              <a:rPr sz="1250" b="0">
                <a:solidFill>
                  <a:srgbClr val="0F2A36"/>
                </a:solidFill>
                <a:latin typeface="Calibri"/>
              </a:rPr>
              <a:t>Sistema de notificaciones completo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A8478"/>
                </a:solidFill>
                <a:latin typeface="Calibri"/>
              </a:rPr>
              <a:t>•  </a:t>
            </a:r>
            <a:r>
              <a:rPr sz="1250" b="0">
                <a:solidFill>
                  <a:srgbClr val="0F2A36"/>
                </a:solidFill>
                <a:latin typeface="Calibri"/>
              </a:rPr>
              <a:t>Campanita in-app en tiempo real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A8478"/>
                </a:solidFill>
                <a:latin typeface="Calibri"/>
              </a:rPr>
              <a:t>•  </a:t>
            </a:r>
            <a:r>
              <a:rPr sz="1250" b="0">
                <a:solidFill>
                  <a:srgbClr val="0F2A36"/>
                </a:solidFill>
                <a:latin typeface="Calibri"/>
              </a:rPr>
              <a:t>Correos automáticos (Gmail)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A8478"/>
                </a:solidFill>
                <a:latin typeface="Calibri"/>
              </a:rPr>
              <a:t>•  </a:t>
            </a:r>
            <a:r>
              <a:rPr sz="1250" b="0">
                <a:solidFill>
                  <a:srgbClr val="0F2A36"/>
                </a:solidFill>
                <a:latin typeface="Calibri"/>
              </a:rPr>
              <a:t>Logo nuevo de la marca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0A8478"/>
                </a:solidFill>
                <a:latin typeface="Calibri"/>
              </a:rPr>
              <a:t>•  </a:t>
            </a:r>
            <a:r>
              <a:rPr sz="1250" b="0">
                <a:solidFill>
                  <a:srgbClr val="0F2A36"/>
                </a:solidFill>
                <a:latin typeface="Calibri"/>
              </a:rPr>
              <a:t>Seguridad: RLS + trigger blindado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50292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0299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¿QUÉ HAREMOS?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1FA89B"/>
                </a:solidFill>
                <a:latin typeface="Calibri"/>
              </a:rPr>
              <a:t>•  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Correo 24/7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en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la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nube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(Resend)</a:t>
            </a:r>
          </a:p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1FA89B"/>
                </a:solidFill>
                <a:latin typeface="Calibri"/>
              </a:rPr>
              <a:t>• 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Recordatorios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automáticos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de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cita</a:t>
            </a:r>
            <a:endParaRPr sz="1250" b="0" dirty="0">
              <a:solidFill>
                <a:srgbClr val="0F2A36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1FA89B"/>
                </a:solidFill>
                <a:latin typeface="Calibri"/>
              </a:rPr>
              <a:t>•  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Más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pruebas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automatizadas</a:t>
            </a:r>
            <a:endParaRPr sz="1250" b="0" dirty="0">
              <a:solidFill>
                <a:srgbClr val="0F2A36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1FA89B"/>
                </a:solidFill>
                <a:latin typeface="Calibri"/>
              </a:rPr>
              <a:t>• 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Notificar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 también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cancelaciones</a:t>
            </a:r>
            <a:endParaRPr sz="1250" b="0" dirty="0">
              <a:solidFill>
                <a:srgbClr val="0F2A36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1FA89B"/>
                </a:solidFill>
                <a:latin typeface="Calibri"/>
              </a:rPr>
              <a:t>•  </a:t>
            </a:r>
            <a:r>
              <a:rPr sz="1250" b="0" dirty="0" err="1">
                <a:solidFill>
                  <a:srgbClr val="0F2A36"/>
                </a:solidFill>
                <a:latin typeface="Calibri"/>
              </a:rPr>
              <a:t>Mejorar la plantilla del correo</a:t>
            </a:r>
            <a:endParaRPr sz="1250" b="0" dirty="0">
              <a:solidFill>
                <a:srgbClr val="0F2A36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38160" y="2002536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657600" cy="5029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0299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¿BLOQUEOS?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2004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 dirty="0">
                <a:solidFill>
                  <a:srgbClr val="CA8A04"/>
                </a:solidFill>
                <a:latin typeface="Calibri"/>
              </a:rPr>
              <a:t>•  •  </a:t>
            </a:r>
            <a:r>
              <a:rPr sz="1250" b="0" dirty="0">
                <a:solidFill>
                  <a:srgbClr val="0F2A36"/>
                </a:solidFill>
                <a:latin typeface="Calibri"/>
              </a:rPr>
              <a:t>Sin otros bloqueos: verificado por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6B7A"/>
                </a:solidFill>
                <a:latin typeface="Calibri"/>
              </a:rPr>
              <a:t>Marian · Scrum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AVANCE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Cómo funciona — de la cita a la notificación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2468880" cy="109728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2A36"/>
                </a:solidFill>
                <a:latin typeface="Calibri"/>
              </a:rPr>
              <a:t>1. Paciente
agenda/cancela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A6B7A"/>
                </a:solidFill>
                <a:latin typeface="Calibri"/>
              </a:rPr>
              <a:t>Acción en la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77440"/>
            <a:ext cx="24688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2377440"/>
            <a:ext cx="2468880" cy="109728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57860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2A36"/>
                </a:solidFill>
                <a:latin typeface="Calibri"/>
              </a:rPr>
              <a:t>2. La base de datos
detecta el evento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A6B7A"/>
                </a:solidFill>
                <a:latin typeface="Calibri"/>
              </a:rPr>
              <a:t>Un 'trigger' automático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280160"/>
            <a:ext cx="4023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280160"/>
            <a:ext cx="4023360" cy="109728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80" y="148132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2A36"/>
                </a:solidFill>
                <a:latin typeface="Calibri"/>
              </a:rPr>
              <a:t>3a. Campanita 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993392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A6B7A"/>
                </a:solidFill>
                <a:latin typeface="Calibri"/>
              </a:rPr>
              <a:t>Aparece al instante en la web (tiempo real)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566160"/>
            <a:ext cx="4023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3566160"/>
            <a:ext cx="4023360" cy="109728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80" y="376732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F2A36"/>
                </a:solidFill>
                <a:latin typeface="Calibri"/>
              </a:rPr>
              <a:t>3b. Correo 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4279392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A6B7A"/>
                </a:solidFill>
                <a:latin typeface="Calibri"/>
              </a:rPr>
              <a:t>Un worker envía el email por Gmail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3063240"/>
            <a:ext cx="640080" cy="0"/>
          </a:xfrm>
          <a:prstGeom prst="line">
            <a:avLst/>
          </a:prstGeom>
          <a:ln w="31750">
            <a:solidFill>
              <a:srgbClr val="0A8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26480" y="1965960"/>
            <a:ext cx="1463040" cy="1097280"/>
          </a:xfrm>
          <a:prstGeom prst="line">
            <a:avLst/>
          </a:prstGeom>
          <a:ln w="31750">
            <a:solidFill>
              <a:srgbClr val="0A8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063240"/>
            <a:ext cx="1463040" cy="1188720"/>
          </a:xfrm>
          <a:prstGeom prst="line">
            <a:avLst/>
          </a:prstGeom>
          <a:ln w="31750">
            <a:solidFill>
              <a:srgbClr val="0A8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5120640"/>
            <a:ext cx="11064240" cy="9144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85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Idea simple: una sola acción del paciente dispara DOS avisos automáticos — uno dentro de la web (instantáneo) y otro al correo. Sin que nadie haga nada manual.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6B7A"/>
                </a:solidFill>
                <a:latin typeface="Calibri"/>
              </a:rPr>
              <a:t>Ethan + Alejandro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La campanita in-app (tiempo real)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8872" cy="41148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🔔  </a:t>
            </a:r>
            <a:r>
              <a:rPr sz="1400" b="0">
                <a:solidFill>
                  <a:srgbClr val="0F2A36"/>
                </a:solidFill>
                <a:latin typeface="Calibri"/>
              </a:rPr>
              <a:t>Aparece al instante, sin recargar la página (Supabase Realtime).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•  </a:t>
            </a:r>
            <a:r>
              <a:rPr sz="1400" b="0">
                <a:solidFill>
                  <a:srgbClr val="0F2A36"/>
                </a:solidFill>
                <a:latin typeface="Calibri"/>
              </a:rPr>
              <a:t>Contador rojo de notificaciones sin leer.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•  </a:t>
            </a:r>
            <a:r>
              <a:rPr sz="1400" b="0">
                <a:solidFill>
                  <a:srgbClr val="0F2A36"/>
                </a:solidFill>
                <a:latin typeface="Calibri"/>
              </a:rPr>
              <a:t>El paciente ve las suyas; el médico ve las de él (cada quien solo lo suyo).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•  </a:t>
            </a:r>
            <a:r>
              <a:rPr sz="1400" b="0">
                <a:solidFill>
                  <a:srgbClr val="0F2A36"/>
                </a:solidFill>
                <a:latin typeface="Calibri"/>
              </a:rPr>
              <a:t>Se puede marcar como leída.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A8478"/>
                </a:solidFill>
                <a:latin typeface="Calibri"/>
              </a:rPr>
              <a:t>⚙  </a:t>
            </a:r>
            <a:r>
              <a:rPr sz="1350" b="1">
                <a:solidFill>
                  <a:srgbClr val="0A4F6B"/>
                </a:solidFill>
                <a:latin typeface="Calibri"/>
              </a:rPr>
              <a:t>Hecho en React 19 + TypeScript, con un hook propio (useNotificaciones) + 5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532120" cy="41148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A8478"/>
                </a:solidFill>
                <a:latin typeface="Calibri"/>
              </a:rPr>
              <a:t>EVIDENCIA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50749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4A6B7A"/>
                </a:solidFill>
                <a:latin typeface="Calibri"/>
              </a:rPr>
              <a:t>[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Pegar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aquí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la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captura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de la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campanita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🔔 con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el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contador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,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ej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.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el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"9"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en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rojo,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en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la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pantalla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Mis </a:t>
            </a:r>
            <a:r>
              <a:rPr sz="1400" b="0" i="1" dirty="0" err="1">
                <a:solidFill>
                  <a:srgbClr val="4A6B7A"/>
                </a:solidFill>
                <a:latin typeface="Calibri"/>
              </a:rPr>
              <a:t>Citas</a:t>
            </a:r>
            <a:r>
              <a:rPr sz="1400" b="0" i="1" dirty="0">
                <a:solidFill>
                  <a:srgbClr val="4A6B7A"/>
                </a:solidFill>
                <a:latin typeface="Calibri"/>
              </a:rPr>
              <a:t> de HELIOS.]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6B7A"/>
                </a:solidFill>
                <a:latin typeface="Calibri"/>
              </a:rPr>
              <a:t>Ethan · Dev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4 / 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C3F037-ACBE-4127-D095-B3E05C33A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2444014"/>
            <a:ext cx="5609844" cy="37739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El correo automático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8872" cy="4114800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📨  </a:t>
            </a:r>
            <a:r>
              <a:rPr sz="1400" b="0">
                <a:solidFill>
                  <a:srgbClr val="0F2A36"/>
                </a:solidFill>
                <a:latin typeface="Calibri"/>
              </a:rPr>
              <a:t>Al agendar/cancelar, la base de datos encola un correo automáticamente.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•  </a:t>
            </a:r>
            <a:r>
              <a:rPr sz="1400" b="0">
                <a:solidFill>
                  <a:srgbClr val="0F2A36"/>
                </a:solidFill>
                <a:latin typeface="Calibri"/>
              </a:rPr>
              <a:t>Un worker (Node + Gmail) lee la cola y envía el correo con el diseño de HELIOS.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0A8478"/>
                </a:solidFill>
                <a:latin typeface="Calibri"/>
              </a:rPr>
              <a:t>•  </a:t>
            </a:r>
            <a:r>
              <a:rPr sz="1400" b="0">
                <a:solidFill>
                  <a:srgbClr val="0F2A36"/>
                </a:solidFill>
                <a:latin typeface="Calibri"/>
              </a:rPr>
              <a:t>Le llega al paciente y al médico.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A8478"/>
                </a:solidFill>
                <a:latin typeface="Calibri"/>
              </a:rPr>
              <a:t>🔒  </a:t>
            </a:r>
            <a:r>
              <a:rPr sz="1350" b="1">
                <a:solidFill>
                  <a:srgbClr val="0A4F6B"/>
                </a:solidFill>
                <a:latin typeface="Calibri"/>
              </a:rPr>
              <a:t>Seguridad: cada quien ve solo lo suyo (RLS), y una notificación NUNCA puede dañar una cita (trigger blindado).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532120" cy="41148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34B56"/>
                </a:solidFill>
                <a:latin typeface="Calibri"/>
              </a:rPr>
              <a:t>EVIDENCIA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50749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A6B7A"/>
                </a:solidFill>
                <a:latin typeface="Calibri"/>
              </a:rPr>
              <a:t>[Pegar aquí la captura del correo recibido: "Cita confirmada" con el recuadro rojo de HELIOS, de brownjose540@gmail.com.]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6B7A"/>
                </a:solidFill>
                <a:latin typeface="Calibri"/>
              </a:rPr>
              <a:t>Alejandro · Tech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5 / 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C7594C-FD8B-6B79-B61E-0834A5922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69"/>
          <a:stretch>
            <a:fillRect/>
          </a:stretch>
        </p:blipFill>
        <p:spPr>
          <a:xfrm>
            <a:off x="6321552" y="2468880"/>
            <a:ext cx="5413248" cy="2743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468880" cy="411480"/>
          </a:xfrm>
          <a:prstGeom prst="roundRect">
            <a:avLst>
              <a:gd name="adj" fmla="val 50000"/>
            </a:avLst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2A36"/>
                </a:solidFill>
                <a:latin typeface="Calibri"/>
              </a:rPr>
              <a:t>Pruébalo tú mismo — escanea el QR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4023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hel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338328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A4F6B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68580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34B56"/>
                </a:solidFill>
                <a:latin typeface="Calibri"/>
              </a:rPr>
              <a:t>Pruébalo en 4 pasos: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78892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1.  Escanea el QR (o entra a la dirección).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355848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2.  Regístrate con tu correo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92277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3.  Agenda una cita.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489704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4.  Recibes la notificación: campanita en la web + correo.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166360"/>
            <a:ext cx="6309360" cy="64008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285232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4A6B7A"/>
                </a:solidFill>
                <a:latin typeface="Calibri"/>
              </a:rPr>
              <a:t>La campanita aparece al instante; el correo llega en segundos.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Ashley ·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MÉTRICAS · ISTQB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Qué medimos y con qué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889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88920" cy="109728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0A8478"/>
                </a:solidFill>
                <a:latin typeface="Calibri"/>
              </a:rPr>
              <a:t>122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2A36"/>
                </a:solidFill>
                <a:latin typeface="Calibri"/>
              </a:rPr>
              <a:t>tests pasando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4A6B7A"/>
                </a:solidFill>
                <a:latin typeface="Calibri"/>
              </a:rPr>
              <a:t>Vitest · 5 nuevos del 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828800"/>
            <a:ext cx="27889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46704" y="1828800"/>
            <a:ext cx="2788920" cy="109728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FA89B"/>
                </a:solidFill>
                <a:latin typeface="Calibri"/>
              </a:rPr>
              <a:t>≥60%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788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2A36"/>
                </a:solidFill>
                <a:latin typeface="Calibri"/>
              </a:rPr>
              <a:t>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1546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4A6B7A"/>
                </a:solidFill>
                <a:latin typeface="Calibri"/>
              </a:rPr>
              <a:t>umbral activo en el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27889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1828800"/>
            <a:ext cx="2788920" cy="10972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CA8A04"/>
                </a:solidFill>
                <a:latin typeface="Calibri"/>
              </a:rPr>
              <a:t>1 →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788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2A36"/>
                </a:solidFill>
                <a:latin typeface="Calibri"/>
              </a:rPr>
              <a:t>defectos altos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1546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4A6B7A"/>
                </a:solidFill>
                <a:latin typeface="Calibri"/>
              </a:rPr>
              <a:t>code review halló 1 (search_path) → corregido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1828800"/>
            <a:ext cx="27889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25712" y="1828800"/>
            <a:ext cx="2788920" cy="109728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34B56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788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F2A36"/>
                </a:solidFill>
                <a:latin typeface="Calibri"/>
              </a:rPr>
              <a:t>correos enviados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31546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4A6B7A"/>
                </a:solidFill>
                <a:latin typeface="Calibri"/>
              </a:rPr>
              <a:t>verificado en la BD (0 fallidos)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86200"/>
            <a:ext cx="11247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A8478"/>
                </a:solidFill>
                <a:latin typeface="Calibri"/>
              </a:rPr>
              <a:t>Defectos · Esfuerzo ·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10698480" cy="805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dirty="0">
                <a:solidFill>
                  <a:srgbClr val="0A8478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Defectos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el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code review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encontró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1 alto y 3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menores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→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corregidos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;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quedan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2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bajos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no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bloqueantes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documentados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1300" b="1" dirty="0">
                <a:solidFill>
                  <a:srgbClr val="0A8478"/>
                </a:solidFill>
                <a:latin typeface="Calibri"/>
              </a:rPr>
              <a:t>•  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Datos reales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intactos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tras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los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cambios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: 65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citas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, 48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pacientes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, 24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notificaciones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in-app.</a:t>
            </a:r>
          </a:p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0A8478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Herramientas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Vitest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· GitHub ·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SonarCloud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análisis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estático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) · Railway ·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Supabase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· </a:t>
            </a:r>
            <a:r>
              <a:rPr lang="es-MX" sz="1300" dirty="0">
                <a:solidFill>
                  <a:srgbClr val="0F2A36"/>
                </a:solidFill>
                <a:latin typeface="Calibri"/>
              </a:rPr>
              <a:t>5 </a:t>
            </a:r>
            <a:r>
              <a:rPr sz="1300" b="0" dirty="0" err="1">
                <a:solidFill>
                  <a:srgbClr val="0F2A36"/>
                </a:solidFill>
                <a:latin typeface="Calibri"/>
              </a:rPr>
              <a:t>agentes</a:t>
            </a:r>
            <a:r>
              <a:rPr sz="1300" b="0" dirty="0">
                <a:solidFill>
                  <a:srgbClr val="0F2A36"/>
                </a:solidFill>
                <a:latin typeface="Calibri"/>
              </a:rPr>
              <a:t> 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000" dirty="0">
                <a:solidFill>
                  <a:srgbClr val="4A6B7A"/>
                </a:solidFill>
                <a:latin typeface="Calibri"/>
              </a:rPr>
              <a:t>José · Product Owner</a:t>
            </a:r>
            <a:r>
              <a:rPr sz="1000" b="0" i="0" dirty="0">
                <a:solidFill>
                  <a:srgbClr val="4A6B7A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TMMi + TQM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A36"/>
                </a:solidFill>
                <a:latin typeface="Calibri"/>
              </a:rPr>
              <a:t>Madurez del proceso y mejora continua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577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TMMi · Madurez del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✓  </a:t>
            </a:r>
            <a:r>
              <a:rPr sz="1300" b="0">
                <a:solidFill>
                  <a:srgbClr val="0F2A36"/>
                </a:solidFill>
                <a:latin typeface="Calibri"/>
              </a:rPr>
              <a:t>Cada defecto se analiza por causa raíz y se corrige con su prueba.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✓  </a:t>
            </a:r>
            <a:r>
              <a:rPr sz="1300" b="0">
                <a:solidFill>
                  <a:srgbClr val="0F2A36"/>
                </a:solidFill>
                <a:latin typeface="Calibri"/>
              </a:rPr>
              <a:t>Code review obligatorio antes de cada cambio.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✓  </a:t>
            </a:r>
            <a:r>
              <a:rPr sz="1300" b="0">
                <a:solidFill>
                  <a:srgbClr val="0F2A36"/>
                </a:solidFill>
                <a:latin typeface="Calibri"/>
              </a:rPr>
              <a:t>Métricas registradas por sprint (tests, cobertura, defectos).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✓  </a:t>
            </a:r>
            <a:r>
              <a:rPr sz="1300" b="0">
                <a:solidFill>
                  <a:srgbClr val="0F2A36"/>
                </a:solidFill>
                <a:latin typeface="Calibri"/>
              </a:rPr>
              <a:t>Verificación con agentes de QA antes de presentar.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→  </a:t>
            </a:r>
            <a:r>
              <a:rPr sz="1300" b="1">
                <a:solidFill>
                  <a:srgbClr val="0A4F6B"/>
                </a:solidFill>
                <a:latin typeface="Calibri"/>
              </a:rPr>
              <a:t>Nivel estimado: 2 (Gestionado) → camino a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532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532120" cy="50292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TQM · Mejora continua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↻  </a:t>
            </a:r>
            <a:r>
              <a:rPr sz="1300" b="0">
                <a:solidFill>
                  <a:srgbClr val="0F2A36"/>
                </a:solidFill>
                <a:latin typeface="Calibri"/>
              </a:rPr>
              <a:t>Probamos en uso real y corregimos en la misma sesión.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↻  </a:t>
            </a:r>
            <a:r>
              <a:rPr sz="1300" b="0">
                <a:solidFill>
                  <a:srgbClr val="0F2A36"/>
                </a:solidFill>
                <a:latin typeface="Calibri"/>
              </a:rPr>
              <a:t>Cada bug encontrado genera una corrección + verificación.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↻  </a:t>
            </a:r>
            <a:r>
              <a:rPr sz="1300" b="0">
                <a:solidFill>
                  <a:srgbClr val="0F2A36"/>
                </a:solidFill>
                <a:latin typeface="Calibri"/>
              </a:rPr>
              <a:t>Honestidad: reconocemos las deudas (correo 24/7 pendiente).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↻  </a:t>
            </a:r>
            <a:r>
              <a:rPr sz="1300" b="0">
                <a:solidFill>
                  <a:srgbClr val="0F2A36"/>
                </a:solidFill>
                <a:latin typeface="Calibri"/>
              </a:rPr>
              <a:t>Documentación viva del proyecto y de las decisiones.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→  </a:t>
            </a:r>
            <a:r>
              <a:rPr sz="1300" b="1">
                <a:solidFill>
                  <a:srgbClr val="0A4F6B"/>
                </a:solidFill>
                <a:latin typeface="Calibri"/>
              </a:rPr>
              <a:t>Enfoque: calidad del proceso Y del producto.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7315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En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3DDC97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Construimos las notificaciones de HELIOS: campanita en tiempo real dentro de la web + correos automáticos al paciente y al médico.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3DDC97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310128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Lo hicimos con seguridad: cada quien ve solo lo suyo, y una notificación nunca puede dañar una cita.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513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3DDC97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51376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Lo verificamos antes de presentar: 122 tests pasan, la BD está sana, los datos reales intactos y los correos llegan (2 agentes de QA lo confirmaron).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926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3DDC97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92624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Kanban: la historia de notificaciones (HELL-5) pasa a DONE. Lo que sigue: correo 24/7 en la nube.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3DDC97"/>
                </a:solidFill>
                <a:latin typeface="Calibri"/>
              </a:rPr>
              <a:t>¿Preguntas?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6B7A"/>
                </a:solidFill>
                <a:latin typeface="Calibri"/>
              </a:rPr>
              <a:t>José · Product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73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4A6B7A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F65E508ACC504097ED47B6A2A839E0" ma:contentTypeVersion="8" ma:contentTypeDescription="Crear nuevo documento." ma:contentTypeScope="" ma:versionID="1f5950c3db4190d339e9e15c717cc106">
  <xsd:schema xmlns:xsd="http://www.w3.org/2001/XMLSchema" xmlns:xs="http://www.w3.org/2001/XMLSchema" xmlns:p="http://schemas.microsoft.com/office/2006/metadata/properties" xmlns:ns2="4d26501a-80b6-46c6-ab66-f877744206c5" targetNamespace="http://schemas.microsoft.com/office/2006/metadata/properties" ma:root="true" ma:fieldsID="0e598f878ea37f471c6e3b78ea7cd60a" ns2:_="">
    <xsd:import namespace="4d26501a-80b6-46c6-ab66-f877744206c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26501a-80b6-46c6-ab66-f877744206c5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4d26501a-80b6-46c6-ab66-f877744206c5" xsi:nil="true"/>
  </documentManagement>
</p:properties>
</file>

<file path=customXml/itemProps1.xml><?xml version="1.0" encoding="utf-8"?>
<ds:datastoreItem xmlns:ds="http://schemas.openxmlformats.org/officeDocument/2006/customXml" ds:itemID="{294360AB-73EA-4550-AF81-5F0A402B3479}"/>
</file>

<file path=customXml/itemProps2.xml><?xml version="1.0" encoding="utf-8"?>
<ds:datastoreItem xmlns:ds="http://schemas.openxmlformats.org/officeDocument/2006/customXml" ds:itemID="{544A1C0A-3A0E-46F5-9B03-228A68239B05}"/>
</file>

<file path=customXml/itemProps3.xml><?xml version="1.0" encoding="utf-8"?>
<ds:datastoreItem xmlns:ds="http://schemas.openxmlformats.org/officeDocument/2006/customXml" ds:itemID="{1D1901BE-ACF5-4DE4-87BF-236F0708D5D7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845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Brown Guerrero</dc:creator>
  <cp:keywords/>
  <dc:description>generated using python-pptx</dc:description>
  <cp:lastModifiedBy>JOSE BROWN</cp:lastModifiedBy>
  <cp:revision>3</cp:revision>
  <dcterms:created xsi:type="dcterms:W3CDTF">2013-01-27T09:14:16Z</dcterms:created>
  <dcterms:modified xsi:type="dcterms:W3CDTF">2026-06-18T14:21:47Z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0x010100D9F65E508ACC504097ED47B6A2A839E0</vt:lpwstr>
  </property>
</Properties>
</file>