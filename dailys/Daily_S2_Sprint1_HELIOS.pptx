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0" y="-914400"/>
            <a:ext cx="3657600" cy="36576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5029200"/>
            <a:ext cx="3657600" cy="2743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C97"/>
                </a:solidFill>
                <a:latin typeface="Calibri"/>
              </a:rPr>
              <a:t>UTP · CALIDAD DE SOFTWARE · PARCIAL 2 · UNIDAD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Daily Scrum — Semana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Sprint 1 · Agendamiento de Citas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DDC97"/>
                </a:solidFill>
                <a:latin typeface="Calibri"/>
              </a:rPr>
              <a:t>Avance semanal · ISTQB · TMMi · TQM aplicados a HELIOS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ETAPA: SPRINT 1 - MVP ACADEMICO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89120"/>
            <a:ext cx="365760" cy="457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Equipo Grupo HELIOS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José Brown · Ethan Gonzalez · Alejandro Saenz · Ashley Martinez · Marian Barba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DDC97"/>
                </a:solidFill>
                <a:latin typeface="Calibri"/>
              </a:rPr>
              <a:t>Universidad Tecnológica de Panamá · 26 de May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PREGUNTA 1 — AVANCE DEL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365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A8478"/>
                </a:solidFill>
                <a:latin typeface="Calibri"/>
              </a:rPr>
              <a:t>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4F6B"/>
                </a:solidFill>
                <a:latin typeface="Calibri"/>
              </a:rPr>
              <a:t>¿Qué hicimos esta semana?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6B7A"/>
                </a:solidFill>
                <a:latin typeface="Calibri"/>
              </a:rPr>
              <a:t>Pasamos de Sprint 0 (documentación) a MVP académico funcional para validación con compañeros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4297680" cy="54864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INFRAESTRUCTURA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Schema PostgreSQL ejecutado: 7 tablas + RLS + RPC atómica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Supabase Auth habilitado con email/password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Frontend Vite + React 19 + TS 6 conectado a Supabase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Deploy en Railway con dominio público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Tablero Jira HELL actualizado · Sprint 1 en progreso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103120"/>
            <a:ext cx="4297680" cy="5486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FEATURES IMPLEMENTADAS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US-01 · Selector Especialidad + Sede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US-02 · Lista de médicos filtrada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US-03 · Calendario con horarios reales (FullCalendar)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US-04 · Formulario de confirmación + código de cita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US-05 · Página Mis Citas con joins a Supabase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>
                <a:solidFill>
                  <a:srgbClr val="0F2A36"/>
                </a:solidFill>
                <a:latin typeface="Calibri"/>
              </a:rPr>
              <a:t>Auth: Registro + Login + Protección de rutas</a:t>
            </a:r>
          </a:p>
        </p:txBody>
      </p:sp>
      <p:pic>
        <p:nvPicPr>
          <p:cNvPr id="13" name="Picture 12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103120"/>
            <a:ext cx="2103120" cy="2103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0" y="4251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8478"/>
                </a:solidFill>
                <a:latin typeface="Calibri"/>
              </a:rPr>
              <a:t>Escanea el 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526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4A6B7A"/>
                </a:solidFill>
                <a:latin typeface="Calibri"/>
              </a:rPr>
              <a:t>helios-web-production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4A6B7A"/>
                </a:solidFill>
                <a:latin typeface="Calibri"/>
              </a:rPr>
              <a:t>.up.railway.app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91440" cy="100584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766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archivos TS/TSX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766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852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tests pasando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3766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65%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852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cobertura stmts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3766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2,700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852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horarios en BD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53766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A8478"/>
                </a:solidFill>
                <a:latin typeface="Calibri"/>
              </a:rPr>
              <a:t>5/5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852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US implementadas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HELIOS — Daily Scrum Semana 2 · Sprint 1 — UTP Calidad de Software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PREGUNTA 2 — PLANIFICACIÓN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365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A8478"/>
                </a:solidFill>
                <a:latin typeface="Calibri"/>
              </a:rPr>
              <a:t>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4F6B"/>
                </a:solidFill>
                <a:latin typeface="Calibri"/>
              </a:rPr>
              <a:t>¿Qué haremos la próxima semana?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6B7A"/>
                </a:solidFill>
                <a:latin typeface="Calibri"/>
              </a:rPr>
              <a:t>Semana del 1 al 7 de junio · cierre Sprint 1: 11 de junio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PRIORIDAD ALTA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HU-02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620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Agenda médico en Realtime — Alejandro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Endurecer políticas por rol — Alejandro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679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Subir cobertura a 70%+ — Ashley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Aplicar cuestionario SUS — Ashley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194560"/>
            <a:ext cx="3657600" cy="50292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313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PRIORIDAD MEDIA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69748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60" y="28803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F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SONAR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8620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Ejecutar pasada SonarCloud — Ethan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383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F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TIPOS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36499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Codegen Supabase tipos TS — Ethan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8862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F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8679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Locust 1000 usuarios — Ashley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3891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F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3708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GitHub Actions con tests + Sonar — Marian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194560"/>
            <a:ext cx="3657600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313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PRIORIDAD BAJA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69748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28803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8620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Notificaciones Supabase Edge — Alejandro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383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PWA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36499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Instalable en móvil — Ethan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8862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8679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Telemetría / Supabase logs — Marian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43891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3708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Pulir copy y diseño — José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0990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Sprint 1 cierra el 11 de junio · próximo demo a la profesora · siguiente módulo: Cancelación y Reprogramación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HELIOS — Daily Scrum Semana 2 · Sprint 1 — UTP Calidad de Software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PREGUNTA 3 — BLOQUEOS Y MITIGACIONES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365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A8478"/>
                </a:solidFill>
                <a:latin typeface="Calibri"/>
              </a:rPr>
              <a:t>P4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4F6B"/>
                </a:solidFill>
                <a:latin typeface="Calibri"/>
              </a:rPr>
              <a:t>¿Qué problemas tuvimos?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6B7A"/>
                </a:solidFill>
                <a:latin typeface="Calibri"/>
              </a:rPr>
              <a:t>Bloqueos identificados durante la semana y cómo los resolvimos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91440" cy="6858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30428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RESUELTO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771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Registro duplicado: auth sin paciente mostraba 'Crear cuenta'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Usuarias logueadas veían form de registro en blanco tras correr el 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432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A8478"/>
                </a:solidFill>
                <a:latin typeface="Calibri"/>
              </a:rPr>
              <a:t>→ Mitigación: Register.tsx detecta 3 escenarios (cargando/completo/falta perfil) y muestra UI 'Completa tu perfil'.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91440" cy="6858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08152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RESUELTO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4495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Toolbar de navegación no respondía a clicks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375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Calendario tapaba los NavLinks del header (sin stacking context)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204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A8478"/>
                </a:solidFill>
                <a:latin typeface="Calibri"/>
              </a:rPr>
              <a:t>→ Mitigación: sticky top-0 z-50 en &lt;header&gt; de AppLayout + z-10 en &lt;nav&gt;.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91440" cy="6858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85876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RESUELTO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82219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Seed destructivo borraba citas de usuarias reales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14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reset_tables() ejecutaba DELETE en citas/pacientes/auth_paciente_link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976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A8478"/>
                </a:solidFill>
                <a:latin typeface="Calibri"/>
              </a:rPr>
              <a:t>→ Mitigación: reset_tables() solo borra catálogo. Datos de usuarios preservados.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2628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91440" cy="6858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63600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 CURSO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599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RLS permisivo en Sprint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920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Política USING (true) permite ver datos de otros pacientes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74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A8478"/>
                </a:solidFill>
                <a:latin typeface="Calibri"/>
              </a:rPr>
              <a:t>→ Mitigación: documentado como deuda técnica conocida. Primer ticket del Sprint 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303520"/>
            <a:ext cx="91440" cy="6858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" y="54132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PENDIENTE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37667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Métrica P95 de Locust aún no medida en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6692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Solo medido en local; falta correr contra Railway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852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A8478"/>
                </a:solidFill>
                <a:latin typeface="Calibri"/>
              </a:rPr>
              <a:t>→ Mitigación: Ashley correrá Locust el martes y agregará el reporte HTML.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HELIOS — Daily Scrum Semana 2 · Sprint 1 — UTP Calidad de Software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EVIDENCIAS DE HERRAMIENTAS — BACKLOG JIRA 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365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A8478"/>
                </a:solidFill>
                <a:latin typeface="Calibri"/>
              </a:rPr>
              <a:t>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F6B"/>
                </a:solidFill>
                <a:latin typeface="Calibri"/>
              </a:rPr>
              <a:t>Tablero de tareas en Jira (proyecto HELL)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6B7A"/>
                </a:solidFill>
                <a:latin typeface="Calibri"/>
              </a:rPr>
              <a:t>15 issues creadas via API · 10 Done · 2 In Progress · 3 To Do · 53 Story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anban_j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1106424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9165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Cada issue tiene responsable, story points y descripción técnica · Backlog evidencia cumplimiento de la Unidad II punto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HELIOS — Daily Scrum Semana 2 · Sprint 1 — UTP Calidad de Software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APLICACIÓN DE LA UNIDAD II — ISTQB · TMMI · TQM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365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A8478"/>
                </a:solidFill>
                <a:latin typeface="Calibri"/>
              </a:rPr>
              <a:t>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F6B"/>
                </a:solidFill>
                <a:latin typeface="Calibri"/>
              </a:rPr>
              <a:t>Métricas Sprint 1 — Semana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6B7A"/>
                </a:solidFill>
                <a:latin typeface="Calibri"/>
              </a:rPr>
              <a:t>Cada métrica está alineada con un marco de calidad de la Unidad II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6576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933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9933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Valor real medido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99339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Herramienta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9933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408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Requerimientos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3408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Cobertura US con criterios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3408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100% (5/5)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34086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Notion + Obsidian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3408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ISTQB · TMMi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609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Requerimientos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6609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Trazabilidad US→BD→Comp→Test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6609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5/5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609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Matriz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6609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TMMi Nivel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2608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809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Requerimientos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9809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Volatilidad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9809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0 cambios mid-sprint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9809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Backlog Jira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9809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TQM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4612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30098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Diseño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3009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Tablas BD vs documentadas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3009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7/7 (100%)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3009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Supabase + Obsidian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3009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ISO/IEC 25010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6616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62102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Diseño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6210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Componentes con SRP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36210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9/9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6210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Code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6210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TMMi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8620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9410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Código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3941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Cobertura statements (Vitest)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9410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65.26%  (≥ 60% target)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394106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Vitest v8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9410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ISTQB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2611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Código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42611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Cobertura lines / functions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2611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81.72% / 89.28%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2611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Vitest v8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42611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ISTQB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5811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Código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40" y="45811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Tests automatizados pasando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7840" y="45811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39/39 (100%)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5811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Vitest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45811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TMMi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90118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No funcional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440" y="4901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Latencia P50 (Locust)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77840" y="49011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120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49011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Locust 2.31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49011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ISTQB rendimiento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22122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No funcional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77440" y="5221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Latencia P95 (Locust)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77840" y="5221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300 ms  (target &lt;2000 ms)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52212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Locust 2.31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2212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ISTQB rendimiento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5412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No funcional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77440" y="55412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Tasa de error bajo carga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77840" y="55412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0/6.105 = 0.00%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554126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Locust 2.31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ISTQB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58613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No funcional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77440" y="58613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Throughput sostenido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7840" y="58613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103.85 req/s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58613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Locust 2.31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9840" y="58613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ISTQB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61813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Clásicas (Pressman)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77440" y="61813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KLOC del Sprint (producto)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77840" y="61813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1.71 KLOC medidas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61813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Script Python conteo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49840" y="61813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Pressman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650138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Clásicas (Pressman)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77440" y="65013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Productividad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77840" y="65013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0.342 KLOC/persona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38160" y="65013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1.71/5 personas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5013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Pressman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676656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682142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Clásicas (Pressman)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77440" y="6821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Tasa de defectos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77840" y="68214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3.51 bugs/KLOC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38160" y="68214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6 bugs / 1.71 KLOC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49840" y="68214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Pressman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7086600"/>
            <a:ext cx="11247120" cy="320040"/>
          </a:xfrm>
          <a:prstGeom prst="rect">
            <a:avLst/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" y="71414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Proceso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377440" y="71414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Ciclo Goal→Metric→Acción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77840" y="71414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Documentado en daily MD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38160" y="714146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A36"/>
                </a:solidFill>
                <a:latin typeface="Calibri"/>
              </a:rPr>
              <a:t>Daily Scrum semanal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49840" y="71414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TQM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Marcos aplicados: ISTQB Foundation 2018 · TMMi (medición y control) · TQM (mejora continua) · ISO/IEC 25010 · Pressman (2010)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