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0" y="-914400"/>
            <a:ext cx="3657600" cy="365760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5029200"/>
            <a:ext cx="3657600" cy="274320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Calibri"/>
              </a:rPr>
              <a:t>UTP · CALIDAD DE SOFTWARE · PARCIAL 2 · UNIDAD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Daily Scrum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Sprint 1 · Agendamiento de Citas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3DDC97"/>
                </a:solidFill>
                <a:latin typeface="Calibri"/>
              </a:rPr>
              <a:t>Avance semanal · ISTQB · TMMi · TQM aplicados a HELIOS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23360"/>
            <a:ext cx="365760" cy="457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Equipo Grupo HELIOS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José Brown · Ethan Gonzalez · Alejandro Saenz · Ashley Martinez · Marian Barba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3DDC97"/>
                </a:solidFill>
                <a:latin typeface="Calibri"/>
              </a:rPr>
              <a:t>Universidad Tecnológica de Panamá · 26 de May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1 — AVANCE DEL SPRINT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2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hicimos esta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Pasamos de Sprint 0 (documentación) a producto funcional desplegado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4297680" cy="54864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INFRAESTRUCTURA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Schema PostgreSQL ejecutado en Supabase (7 tablas + RLS + RPC atómica)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Supabase Auth habilitado con email/password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Frontend Vite + React 19 + TS 6 conectado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Deploy en Railway con dominio público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Tablero Jira HELL actualizado · Sprint 1 en progreso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2103120"/>
            <a:ext cx="4297680" cy="54864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8478"/>
                </a:solidFill>
                <a:latin typeface="Calibri"/>
              </a:rPr>
              <a:t>FEATURES IMPLEMENTADAS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5176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US-01 · Selector Especialidad + Sede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US-02 · Lista de médicos filtrada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US-03 · Calendario con horarios reales (FullCalendar)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US-04 · Formulario de confirmación + código de cita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US-05 · Página Mis Citas con joins a Supabase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A8478"/>
                </a:solidFill>
                <a:latin typeface="Calibri"/>
              </a:rPr>
              <a:t>✓  </a:t>
            </a:r>
            <a:r>
              <a:rPr sz="1200">
                <a:solidFill>
                  <a:srgbClr val="0F2A36"/>
                </a:solidFill>
                <a:latin typeface="Calibri"/>
              </a:rPr>
              <a:t>Auth: Registro + Login + Protección de rutas</a:t>
            </a:r>
          </a:p>
        </p:txBody>
      </p:sp>
      <p:pic>
        <p:nvPicPr>
          <p:cNvPr id="13" name="Picture 12" descr="qr_helios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03120"/>
            <a:ext cx="2103120" cy="21031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0" y="42519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8478"/>
                </a:solidFill>
                <a:latin typeface="Calibri"/>
              </a:rPr>
              <a:t>Escanea el 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45262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helios-web-production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7365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4A6B7A"/>
                </a:solidFill>
                <a:latin typeface="Calibri"/>
              </a:rPr>
              <a:t>.up.railway.app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212080"/>
            <a:ext cx="91440" cy="100584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archivos TS/TSX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pasando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65%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cobertura stmts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2,700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horarios en BD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537667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8478"/>
                </a:solidFill>
                <a:latin typeface="Calibri"/>
              </a:rPr>
              <a:t>5/5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58521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US implementadas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2 — PLANIFICACIÓN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3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haremos la próxima semana?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Semana del 1 al 7 de junio · cierre Sprint 1: 11 de junio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657600" cy="502920"/>
          </a:xfrm>
          <a:prstGeom prst="rect">
            <a:avLst/>
          </a:prstGeom>
          <a:solidFill>
            <a:srgbClr val="0A8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ALTA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HU-02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Agenda médico en Realtime — Alejandro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Endurecer políticas por rol — Alejandro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Subir cobertura a 70%+ — Ashley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0A8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Aplicar cuestionario SUS — Ashley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94560"/>
            <a:ext cx="3657600" cy="502920"/>
          </a:xfrm>
          <a:prstGeom prst="rect">
            <a:avLst/>
          </a:prstGeom>
          <a:solidFill>
            <a:srgbClr val="1FA8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SONAR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Ejecutar pasada SonarCloud — Ethan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TIPOS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Codegen Supabase tipos TS — Ethan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CARGA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Locust 1000 usuarios — Ashley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A8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CI/CD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GitHub Actions con tests + Sonar — Marian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2194560"/>
            <a:ext cx="3657600" cy="50292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2313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PRIORIDAD BAJA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269748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288036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8620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Notificaciones Supabase Edge — Alejandro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1040" y="338328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3649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Instalable en móvil — Ethan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38862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386791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Telemetría / Supabase logs — Marian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438912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708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2A36"/>
                </a:solidFill>
                <a:latin typeface="Calibri"/>
              </a:rPr>
              <a:t>Pulir copy y diseño — José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09904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Sprint 1 cierra el 11 de junio · próximo demo a la profesora · siguiente módulo: Cancelación y Reprogramación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PREGUNTA 3 — BLOQUEOS Y MITIGACIONES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4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0A4F6B"/>
                </a:solidFill>
                <a:latin typeface="Calibri"/>
              </a:rPr>
              <a:t>¿Qué problemas tuvimos?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6B7A"/>
                </a:solidFill>
                <a:latin typeface="Calibri"/>
              </a:rPr>
              <a:t>Bloqueos identificados durante la semana y cómo los resolvimos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3042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Stack muy nuevo (React 19.2 + TS 6 + Vite 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603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TypeScript falla con tipos genéricos en cliente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7432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cliente sin tipado genérico para Sprint 1 + ticket de codegen para Sprint 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08152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449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Validación de cédula panameña rechazaba PE-12-345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375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El regex inicial era demasiado estricto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204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simplificada a '5-12 dígitos tras quitar prefijo y guiones' + 7 casos de prueba.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40"/>
            <a:ext cx="91440" cy="6858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385876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RESUELTO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82219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Vitest 4 mock hoisting con variables externas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80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Tests fallaban con 'Cannot access X before initialization'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usar vi.hoisted() para variables compartidas entre mock y test.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2628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91440" cy="68580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800" y="463600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EN CURSO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59943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RLS permisivo en Sprint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8920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Política USING (true) permite ver datos de otros pacientes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7492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documentado como deuda técnica conocida. Primer ticket del Sprint 2.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03520"/>
            <a:ext cx="1124712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303520"/>
            <a:ext cx="91440" cy="6858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541324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37667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2A36"/>
                </a:solidFill>
                <a:latin typeface="Calibri"/>
              </a:rPr>
              <a:t>Métrica P95 de Locust aún no medida en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6692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6B7A"/>
                </a:solidFill>
                <a:latin typeface="Calibri"/>
              </a:rPr>
              <a:t>Solo medido en local; falta correr contra Railway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852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A8478"/>
                </a:solidFill>
                <a:latin typeface="Calibri"/>
              </a:rPr>
              <a:t>→ Mitigación: Ashley correrá Locust el martes y agregará el reporte HTML.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4A6B7A"/>
                </a:solidFill>
                <a:latin typeface="Calibri"/>
              </a:rPr>
              <a:t>HELIOS — Daily Scrum Semana 2 · Sprint 1 — UTP Calidad de Software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8478"/>
                </a:solidFill>
                <a:latin typeface="Calibri"/>
              </a:rPr>
              <a:t>APLICACIÓN DE LA UNIDAD II — ISTQB · TMMI · TQM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365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0A8478"/>
                </a:solidFill>
                <a:latin typeface="Calibri"/>
              </a:rPr>
              <a:t>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5836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4A6B7A"/>
                </a:solidFill>
                <a:latin typeface="Calibri"/>
              </a:rPr>
              <a:t>5 /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A4F6B"/>
                </a:solidFill>
                <a:latin typeface="Calibri"/>
              </a:rPr>
              <a:t>Métricas Sprint 1 — Semana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4A6B7A"/>
                </a:solidFill>
                <a:latin typeface="Calibri"/>
              </a:rPr>
              <a:t>Cada métrica está alineada con un marco de calidad de la Unidad II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11247120" cy="365760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Categoría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933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933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Valor real medido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9933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Herramienta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9933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Marco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408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408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US con criterios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408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100% (5/5)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408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Notion + Obsidian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3408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 · TMMi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60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6609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Trazabilidad US→BD→Comp→Test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6609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5/5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6609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Matriz manual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6609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 Nivel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260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809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Requerimientos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29809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Volatilidad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9809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 cambios mid-sprint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9809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Backlog Jira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9809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24612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3009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33009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Tablas BD vs documentadas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33009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7/7 (100%)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3009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Supabase + Obsidian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009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ISO/IEC 25010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6616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6210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Diseño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36210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Componentes con SRP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6210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9/9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6210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Code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6210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88620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941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3941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statements (Vitest)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39410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65.26%  (≥ 60% target)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39410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9410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2611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7440" y="42611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branches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2611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53.71%  (≥ 50% target)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2611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42611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581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40" y="45811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Cobertura lines / functions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77840" y="45811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81.72% / 89.28%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8160" y="4581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 v8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45811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8463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90118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490118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Tests automatizados pasando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49011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39/39 (100%)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49011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Vitest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40" y="490118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TMMi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52212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Código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522122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Vulnerabilidades críticas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77840" y="522122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 (pendiente confirmar SonarCloud)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38160" y="52212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SonarCloud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49840" y="52212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ISTQB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40" y="55412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KLOC del Sprint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77840" y="55412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≈ 1.4 KLOC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38160" y="5541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cloc / SonarCloud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solidFill>
            <a:srgbClr val="EC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8640" y="58613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Clásicas (Pressman)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586130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Productividad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86130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0.28 KLOC/persona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38160" y="58613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Cálculo manual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586130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Pressman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61813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Proceso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77440" y="618134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Ciclo de medición Goal→Metric→Acción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77840" y="618134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Documentado en este daily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38160" y="61813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0F2A36"/>
                </a:solidFill>
                <a:latin typeface="Calibri"/>
              </a:rPr>
              <a:t>Daily Scrum semanal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49840" y="61813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A8478"/>
                </a:solidFill>
                <a:latin typeface="Calibri"/>
              </a:rPr>
              <a:t>TQM mejora continua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6446520"/>
            <a:ext cx="11247120" cy="292608"/>
          </a:xfrm>
          <a:prstGeom prst="rect">
            <a:avLst/>
          </a:prstGeom>
          <a:solidFill>
            <a:srgbClr val="0A4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Marcos aplicados: ISTQB Foundation 2018 · TMMi (medición y control) · TQM (mejora continua) · ISO/IEC 25010 · Pressman (2010)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