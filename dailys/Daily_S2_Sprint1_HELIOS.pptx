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58400" y="-914400"/>
            <a:ext cx="3657600" cy="3657600"/>
          </a:xfrm>
          <a:prstGeom prst="rect">
            <a:avLst/>
          </a:prstGeom>
          <a:solidFill>
            <a:srgbClr val="1FA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0" y="5029200"/>
            <a:ext cx="3657600" cy="274320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Calibri"/>
              </a:rPr>
              <a:t>UTP · CALIDAD DE SOFTWARE · PARCIAL 2 · UNIDAD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Daily Scrum — Semana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Sprint 1 · Agendamiento de Citas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3DDC97"/>
                </a:solidFill>
                <a:latin typeface="Calibri"/>
              </a:rPr>
              <a:t>Avance semanal · ISTQB · TMMi · TQM aplicados a HELIOS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ETAPA: SPRINT 1 - MVP ACADEMICO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389120"/>
            <a:ext cx="365760" cy="457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Equipo Grupo HELIOS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José Brown · Ethan Gonzalez · Alejandro Saenz · Ashley Martinez · Marian Barba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DDC97"/>
                </a:solidFill>
                <a:latin typeface="Calibri"/>
              </a:rPr>
              <a:t>Universidad Tecnológica de Panamá · 26 de May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1 — AVANCE DEL SPRINT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hicimos esta semana?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Pasamos de Sprint 0 (documentación) a MVP académico funcional para validación con compañeros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4297680" cy="54864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8478"/>
                </a:solidFill>
                <a:latin typeface="Calibri"/>
              </a:rPr>
              <a:t>INFRAESTRUCTURA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51760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Schema PostgreSQL ejecutado: 7 tablas + RLS + RPC atómica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Supabase Auth habilitado con email/password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Frontend Vite + React 19 + TS 6 conectado a Supabase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Deploy en Railway con dominio público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Tablero Jira HELL actualizado · Sprint 1 en progreso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2103120"/>
            <a:ext cx="4297680" cy="548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22402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8478"/>
                </a:solidFill>
                <a:latin typeface="Calibri"/>
              </a:rPr>
              <a:t>FEATURES IMPLEMENTADAS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651760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US-01 · Selector Especialidad + Sede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US-02 · Lista de médicos filtrada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US-03 · Calendario con horarios reales (FullCalendar)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US-04 · Formulario de confirmación + código de cita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US-05 · Página Mis Citas con joins a Supabase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Auth: Registro + Login + Protección de rutas</a:t>
            </a:r>
          </a:p>
        </p:txBody>
      </p:sp>
      <p:pic>
        <p:nvPicPr>
          <p:cNvPr id="13" name="Picture 12" descr="qr_helios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03120"/>
            <a:ext cx="2103120" cy="21031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0" y="42519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8478"/>
                </a:solidFill>
                <a:latin typeface="Calibri"/>
              </a:rPr>
              <a:t>Escanea el QR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45262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4A6B7A"/>
                </a:solidFill>
                <a:latin typeface="Calibri"/>
              </a:rPr>
              <a:t>helios-web-production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47365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4A6B7A"/>
                </a:solidFill>
                <a:latin typeface="Calibri"/>
              </a:rPr>
              <a:t>.up.railway.app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120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212080"/>
            <a:ext cx="91440" cy="100584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archivos TS/TSX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tests pasando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65%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cobertura stmts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2,700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horarios en BD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5/5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US implementadas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2 — PLANIFICACIÓN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haremos la próxima semana?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Semana del 1 al 7 de junio · cierre Sprint 1: 11 de junio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657600" cy="50292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ALTA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HU-02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Agenda médico en Realtime — Alejandro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Endurecer políticas por rol — Alejandro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Subir cobertura a 70%+ — Ashley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Aplicar cuestionario SUS — Ashley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194560"/>
            <a:ext cx="3657600" cy="502920"/>
          </a:xfrm>
          <a:prstGeom prst="rect">
            <a:avLst/>
          </a:prstGeom>
          <a:solidFill>
            <a:srgbClr val="1FA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MEDIA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8056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SONAR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Ejecutar pasada SonarCloud — Ethan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TIPOS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Codegen Supabase tipos TS — Ethan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CARGA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Locust 1000 usuarios — Ashley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CI/CD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GitHub Actions con tests + Sonar — Marian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2194560"/>
            <a:ext cx="3657600" cy="5029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BAJA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2104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EMAIL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Notificaciones Supabase Edge — Alejandro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104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PWA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Instalable en móvil — Ethan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LOGS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Telemetría / Supabase logs — Marian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2104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Pulir copy y diseño — José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35040"/>
            <a:ext cx="11247120" cy="41148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09904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Sprint 1 cierra el 11 de junio · próximo demo a la profesora · siguiente módulo: Cancelación y Reprogramación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3 — BLOQUEOS Y MITIGACIONES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problemas tuvimos?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Bloqueos identificados durante la semana y cómo los resolvimos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30428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Stack muy nuevo (React 19.2 + TS 6 + Vite 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603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TypeScript falla con tipos genéricos en cliente Supabase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7432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cliente sin tipado genérico para Sprint 1 + ticket de codegen para Sprint 2.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08152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449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Validación de cédula panameña rechazaba PE-12-345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375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El regex inicial era demasiado estricto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5204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simplificada a '5-12 dígitos tras quitar prefijo y guiones' + 7 casos de prueba.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4904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4904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385876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82219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Vitest 4 mock hoisting con variables externas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8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Tests fallaban con 'Cannot access X before initialization'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976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usar vi.hoisted() para variables compartidas entre mock y test.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52628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526280"/>
            <a:ext cx="91440" cy="68580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800" y="463600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EN CURSO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59943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RLS permisivo en Sprint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8920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Política USING (true) permite ver datos de otros pacientes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0749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documentado como deuda técnica conocida. Primer ticket del Sprint 2.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30352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303520"/>
            <a:ext cx="91440" cy="6858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541324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PENDIENTE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37667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Métrica P95 de Locust aún no medida en 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56692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Solo medido en local; falta correr contra Railway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8521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Ashley correrá Locust el martes y agregará el reporte HTML.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EVIDENCIAS DE HERRAMIENTAS — BACKLOG JIRA HELL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0A4F6B"/>
                </a:solidFill>
                <a:latin typeface="Calibri"/>
              </a:rPr>
              <a:t>Tablero de tareas en Jira (proyecto HELL)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6B7A"/>
                </a:solidFill>
                <a:latin typeface="Calibri"/>
              </a:rPr>
              <a:t>15 issues creadas via API · 10 Done · 2 In Progress · 3 To Do · 53 Story Points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0A8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anban_ji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11064240" cy="411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391656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Cada issue tiene responsable, story points y descripción técnica · Backlog evidencia cumplimiento de la Unidad II punto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APLICACIÓN DE LA UNIDAD II — ISTQB · TMMI · TQM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0A4F6B"/>
                </a:solidFill>
                <a:latin typeface="Calibri"/>
              </a:rPr>
              <a:t>Métricas Sprint 1 — Semana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6B7A"/>
                </a:solidFill>
                <a:latin typeface="Calibri"/>
              </a:rPr>
              <a:t>Cada métrica está alineada con un marco de calidad de la Unidad II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36576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Categoría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933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Métrica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9933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Valor real medido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99339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Herramienta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993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Marco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860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408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3408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US con criterios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3408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100% (5/5)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3408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Notion + Obsidian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3408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· TMMi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609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26609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Trazabilidad US→BD→Comp→Test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6609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5/5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6609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Matriz manual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6609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 Nivel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2608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809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29809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Volatilidad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9809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 cambios mid-sprint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29809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Backlog Jira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9809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TQM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24612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3009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Diseño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33009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Tablas BD vs documentadas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33009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7/7 (100%)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3009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Supabase + Obsidian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3009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ISO/IEC 25010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56616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6210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Diseño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36210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Componentes con SRP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36210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9/9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6210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Code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36210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88620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941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39410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statements (Vitest)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39410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65.26%  (≥ 60% target)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39410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39410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20624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42611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7440" y="42611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lines / functions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2611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81.72% / 89.28%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42611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40" y="42611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4581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40" y="45811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Tests automatizados pasando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77840" y="45811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39/39 (100%)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38160" y="45811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45811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484632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49011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7440" y="49011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Latencia P50 (Locust)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77840" y="49011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120 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49011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49840" y="49011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rendimiento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516636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52212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52212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Latencia P95 (Locust)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77840" y="52212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300 ms  (target &lt;2000 ms)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52212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49840" y="52212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rendimiento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54864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55412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Tasa de error bajo carga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77840" y="55412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0/6.105 = 0.00%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38160" y="55412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55412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8640" y="58613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77440" y="58613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Throughput sostenido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77840" y="58613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103.85 req/s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38160" y="58613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58613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61813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77440" y="61813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KLOC del Sprint (producto)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77840" y="61813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1.71 KLOC medidas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38160" y="61813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Script Python conteo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49840" y="61813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8640" y="65013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77440" y="65013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Productividad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77840" y="6501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0.342 KLOC/persona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38160" y="65013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1.71/5 personas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49840" y="65013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57200" y="676656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8640" y="68214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77440" y="68214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Tasa de defectos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577840" y="68214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1.75 bugs/KLOC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138160" y="68214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3 bugs / 1.71 KLOC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49840" y="68214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57200" y="708660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48640" y="71414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Proceso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377440" y="71414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Ciclo Goal→Metric→Acción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577840" y="71414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Documentado en daily MD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38160" y="71414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Daily Scrum semanal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49840" y="71414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TQM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7200" y="6446520"/>
            <a:ext cx="11247120" cy="292608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0080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Marcos aplicados: ISTQB Foundation 2018 · TMMi (medición y control) · TQM (mejora continua) · ISO/IEC 25010 · Pressman (2010)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