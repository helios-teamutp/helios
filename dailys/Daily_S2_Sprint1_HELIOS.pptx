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4F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58400" y="-914400"/>
            <a:ext cx="3657600" cy="3657600"/>
          </a:xfrm>
          <a:prstGeom prst="rect">
            <a:avLst/>
          </a:prstGeom>
          <a:solidFill>
            <a:srgbClr val="1FA8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0" y="5029200"/>
            <a:ext cx="3657600" cy="2743200"/>
          </a:xfrm>
          <a:prstGeom prst="rect">
            <a:avLst/>
          </a:prstGeom>
          <a:solidFill>
            <a:srgbClr val="0A8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3DDC97"/>
                </a:solidFill>
                <a:latin typeface="Calibri"/>
              </a:rPr>
              <a:t>UTP · CALIDAD DE SOFTWARE · PARCIAL 2 · UNIDAD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Daily Scrum — Semana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Sprint 1 · Agendamiento de Citas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3DDC97"/>
                </a:solidFill>
                <a:latin typeface="Calibri"/>
              </a:rPr>
              <a:t>Avance semanal · ISTQB · TMMi · TQM aplicados a HELIOS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80"/>
            <a:ext cx="3200400" cy="365760"/>
          </a:xfrm>
          <a:prstGeom prst="roundRect">
            <a:avLst>
              <a:gd name="adj" fmla="val 50000"/>
            </a:avLst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ETAPA: SPRINT 1 - MVP ACADEMICO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389120"/>
            <a:ext cx="365760" cy="4572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5720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Equipo Grupo HELIOS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José Brown · Ethan Gonzalez · Alejandro Saenz · Ashley Martinez · Marian Barba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1264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DDC97"/>
                </a:solidFill>
                <a:latin typeface="Calibri"/>
              </a:rPr>
              <a:t>Universidad Tecnológica de Panamá · 27 de May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8478"/>
                </a:solidFill>
                <a:latin typeface="Calibri"/>
              </a:rPr>
              <a:t>PREGUNTA 1 — AVANCE DEL SPRINT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365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0A8478"/>
                </a:solidFill>
                <a:latin typeface="Calibri"/>
              </a:rPr>
              <a:t>P2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6B7A"/>
                </a:solidFill>
                <a:latin typeface="Calibri"/>
              </a:rPr>
              <a:t>2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0A4F6B"/>
                </a:solidFill>
                <a:latin typeface="Calibri"/>
              </a:rPr>
              <a:t>¿Qué hicimos esta semana?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6B7A"/>
                </a:solidFill>
                <a:latin typeface="Calibri"/>
              </a:rPr>
              <a:t>Pasamos de Sprint 0 (documentación) a MVP académico funcional para validación con compañeros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4297680" cy="54864"/>
          </a:xfrm>
          <a:prstGeom prst="rect">
            <a:avLst/>
          </a:prstGeom>
          <a:solidFill>
            <a:srgbClr val="0A8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24028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A8478"/>
                </a:solidFill>
                <a:latin typeface="Calibri"/>
              </a:rPr>
              <a:t>INFRAESTRUCTURA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51760"/>
            <a:ext cx="42976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Schema PostgreSQL ejecutado: 7 tablas + RLS + RPC atómica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Supabase Auth habilitado con email/password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Frontend Vite + React 19 + TS 6 conectado a Supabase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Deploy en Railway con dominio público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Tablero Jira HELL actualizado · Sprint 1 en progreso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46320" y="2103120"/>
            <a:ext cx="4297680" cy="54864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224028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A8478"/>
                </a:solidFill>
                <a:latin typeface="Calibri"/>
              </a:rPr>
              <a:t>FEATURES IMPLEMENTADAS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651760"/>
            <a:ext cx="42976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US-01 · Selector Especialidad + Sede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US-02 · Lista de médicos filtrada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US-03 · Calendario con horarios reales (FullCalendar)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US-04 · Formulario de confirmación + código de cita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US-05 · Página Mis Citas con joins a Supabase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Auth: Registro + Login + Protección de rutas</a:t>
            </a:r>
          </a:p>
        </p:txBody>
      </p:sp>
      <p:pic>
        <p:nvPicPr>
          <p:cNvPr id="13" name="Picture 12" descr="qr_helios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103120"/>
            <a:ext cx="2103120" cy="21031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0" y="42519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A8478"/>
                </a:solidFill>
                <a:latin typeface="Calibri"/>
              </a:rPr>
              <a:t>Escanea el QR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45262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>
                <a:solidFill>
                  <a:srgbClr val="4A6B7A"/>
                </a:solidFill>
                <a:latin typeface="Calibri"/>
              </a:rPr>
              <a:t>helios-web-production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473659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>
                <a:solidFill>
                  <a:srgbClr val="4A6B7A"/>
                </a:solidFill>
                <a:latin typeface="Calibri"/>
              </a:rPr>
              <a:t>.up.railway.app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1208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212080"/>
            <a:ext cx="91440" cy="1005840"/>
          </a:xfrm>
          <a:prstGeom prst="rect">
            <a:avLst/>
          </a:prstGeom>
          <a:solidFill>
            <a:srgbClr val="0A8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37667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8478"/>
                </a:solidFill>
                <a:latin typeface="Calibri"/>
              </a:rPr>
              <a:t>32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521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archivos TS/TSX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37667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8478"/>
                </a:solidFill>
                <a:latin typeface="Calibri"/>
              </a:rPr>
              <a:t>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58521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tests pasando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537667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8478"/>
                </a:solidFill>
                <a:latin typeface="Calibri"/>
              </a:rPr>
              <a:t>65%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58521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cobertura stmts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537667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8478"/>
                </a:solidFill>
                <a:latin typeface="Calibri"/>
              </a:rPr>
              <a:t>2,700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58521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horarios en BD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0" y="537667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8478"/>
                </a:solidFill>
                <a:latin typeface="Calibri"/>
              </a:rPr>
              <a:t>5/5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58521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US implementadas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6B7A"/>
                </a:solidFill>
                <a:latin typeface="Calibri"/>
              </a:rPr>
              <a:t>HELIOS — Daily Scrum Semana 2 · Sprint 1 — UTP Calidad de Software ·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8478"/>
                </a:solidFill>
                <a:latin typeface="Calibri"/>
              </a:rPr>
              <a:t>PREGUNTA 2 — PLANIFICACIÓN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365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0A8478"/>
                </a:solidFill>
                <a:latin typeface="Calibri"/>
              </a:rPr>
              <a:t>P3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6B7A"/>
                </a:solidFill>
                <a:latin typeface="Calibri"/>
              </a:rPr>
              <a:t>3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0A4F6B"/>
                </a:solidFill>
                <a:latin typeface="Calibri"/>
              </a:rPr>
              <a:t>¿Qué haremos la próxima semana?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6B7A"/>
                </a:solidFill>
                <a:latin typeface="Calibri"/>
              </a:rPr>
              <a:t>Semana del 1 al 7 de junio · cierre Sprint 1: 11 de junio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3657600" cy="502920"/>
          </a:xfrm>
          <a:prstGeom prst="rect">
            <a:avLst/>
          </a:prstGeom>
          <a:solidFill>
            <a:srgbClr val="0A8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134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PRIORIDAD ALTA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97480"/>
            <a:ext cx="365760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88036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A8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HU-02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8620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Agenda médico en Realtime — Alejandro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38328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A8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36499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Endurecer políticas por rol — Alejandro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88620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A8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86791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Subir cobertura a 70%+ — Ashley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8912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A8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UX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37083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Aplicar cuestionario SUS — Ashley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2194560"/>
            <a:ext cx="3657600" cy="502920"/>
          </a:xfrm>
          <a:prstGeom prst="rect">
            <a:avLst/>
          </a:prstGeom>
          <a:solidFill>
            <a:srgbClr val="1FA8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23134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PRIORIDAD MEDIA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80" y="2697480"/>
            <a:ext cx="365760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480560" y="288036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FA8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SONAR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7800" y="28620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Ejecutar pasada SonarCloud — Ethan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80560" y="338328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FA8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TIPOS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800" y="336499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Codegen Supabase tipos TS — Ethan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388620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FA8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CARGA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800" y="386791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Locust 1000 usuarios — Ashley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38912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FA8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CI/CD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437083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GitHub Actions con tests + Sonar — Marian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38160" y="2194560"/>
            <a:ext cx="3657600" cy="50292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23134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PRIORIDAD BAJA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38160" y="2697480"/>
            <a:ext cx="365760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321040" y="288036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EMAIL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8280" y="28620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Notificaciones Supabase Edge — Alejandro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21040" y="338328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PWA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336499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Instalable en móvil — Ethan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21040" y="388620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LOGS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386791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Telemetría / Supabase logs — Marian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21040" y="438912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DEMO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437083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Pulir copy y diseño — José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6035040"/>
            <a:ext cx="11247120" cy="411480"/>
          </a:xfrm>
          <a:prstGeom prst="rect">
            <a:avLst/>
          </a:prstGeom>
          <a:solidFill>
            <a:srgbClr val="0A4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09904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Sprint 1 cierra el 11 de junio · próximo demo a la profesora · siguiente módulo: Cancelación y Reprogramación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6B7A"/>
                </a:solidFill>
                <a:latin typeface="Calibri"/>
              </a:rPr>
              <a:t>HELIOS — Daily Scrum Semana 2 · Sprint 1 — UTP Calidad de Software ·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8478"/>
                </a:solidFill>
                <a:latin typeface="Calibri"/>
              </a:rPr>
              <a:t>PREGUNTA 3 — BLOQUEOS Y MITIGACIONES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365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0A8478"/>
                </a:solidFill>
                <a:latin typeface="Calibri"/>
              </a:rPr>
              <a:t>P4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6B7A"/>
                </a:solidFill>
                <a:latin typeface="Calibri"/>
              </a:rPr>
              <a:t>4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0A4F6B"/>
                </a:solidFill>
                <a:latin typeface="Calibri"/>
              </a:rPr>
              <a:t>¿Qué problemas tuvimos?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6B7A"/>
                </a:solidFill>
                <a:latin typeface="Calibri"/>
              </a:rPr>
              <a:t>Bloqueos identificados durante la semana y cómo los resolvimos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194560"/>
            <a:ext cx="91440" cy="68580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230428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RESUELTO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26771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2A36"/>
                </a:solidFill>
                <a:latin typeface="Calibri"/>
              </a:rPr>
              <a:t>Registro duplicado: auth sin paciente mostraba 'Crear cuenta'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56032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Usuarias logueadas veían form de registro en blanco tras correr el seed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74320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A8478"/>
                </a:solidFill>
                <a:latin typeface="Calibri"/>
              </a:rPr>
              <a:t>→ Mitigación: Register.tsx detecta 3 escenarios (cargando/completo/falta perfil) y muestra UI 'Completa tu perfil'.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971800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71800"/>
            <a:ext cx="91440" cy="68580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" y="308152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RESUELTO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4495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2A36"/>
                </a:solidFill>
                <a:latin typeface="Calibri"/>
              </a:rPr>
              <a:t>Toolbar de navegación no respondía a clicks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3375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Calendario tapaba los NavLinks del header (sin stacking context)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52044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A8478"/>
                </a:solidFill>
                <a:latin typeface="Calibri"/>
              </a:rPr>
              <a:t>→ Mitigación: sticky top-0 z-50 en &lt;header&gt; de AppLayout + z-10 en &lt;nav&gt;.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49040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749040"/>
            <a:ext cx="91440" cy="68580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5800" y="385876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RESUELTO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382219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2A36"/>
                </a:solidFill>
                <a:latin typeface="Calibri"/>
              </a:rPr>
              <a:t>Seed destructivo borraba citas de usuarias reales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11480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reset_tables() ejecutaba DELETE en citas/pacientes/auth_paciente_link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29768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A8478"/>
                </a:solidFill>
                <a:latin typeface="Calibri"/>
              </a:rPr>
              <a:t>→ Mitigación: reset_tables() solo borra catálogo. Datos de usuarios preservados.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526280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526280"/>
            <a:ext cx="91440" cy="68580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85800" y="463600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RESUELTO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459943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2A36"/>
                </a:solidFill>
                <a:latin typeface="Calibri"/>
              </a:rPr>
              <a:t>Loading infinito en useAuth + 5 hooks de datos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489204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Mismo patrón roto en useCitas, useEspecialidades, useSedes, useMedicos, useHorarios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07492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A8478"/>
                </a:solidFill>
                <a:latin typeface="Calibri"/>
              </a:rPr>
              <a:t>→ Mitigación: try/catch/finally consistente + race condition guard en useCitas (HIGH detectado por code-reviewer).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303520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303520"/>
            <a:ext cx="91440" cy="68580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5800" y="541324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RESUELTO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537667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2A36"/>
                </a:solidFill>
                <a:latin typeface="Calibri"/>
              </a:rPr>
              <a:t>Sesión persistente entre pestañas (riesgo seguridad)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8800" y="566928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Supabase usaba localStorage por defecto - sesión persistía indefinidamente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58521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A8478"/>
                </a:solidFill>
                <a:latin typeface="Calibri"/>
              </a:rPr>
              <a:t>→ Mitigación: storage: sessionStorage. Cerrar tab borra sesión. Cumple HIPAA.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6080760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6080760"/>
            <a:ext cx="91440" cy="685800"/>
          </a:xfrm>
          <a:prstGeom prst="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85800" y="619048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EN CURSO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28800" y="615391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2A36"/>
                </a:solidFill>
                <a:latin typeface="Calibri"/>
              </a:rPr>
              <a:t>RLS permisivo en Sprint 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644652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Política USING (true) permite ver datos de otros pacientes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28800" y="662940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A8478"/>
                </a:solidFill>
                <a:latin typeface="Calibri"/>
              </a:rPr>
              <a:t>→ Mitigación: documentado como deuda técnica conocida. Primer ticket del Sprint 2.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6858000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7200" y="6858000"/>
            <a:ext cx="91440" cy="6858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85800" y="696772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PENDIENTE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28800" y="693115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2A36"/>
                </a:solidFill>
                <a:latin typeface="Calibri"/>
              </a:rPr>
              <a:t>Métrica P95 de Locust aún no medida en deploy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28800" y="7223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Solo medido en local; falta correr contra Railway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28800" y="740664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A8478"/>
                </a:solidFill>
                <a:latin typeface="Calibri"/>
              </a:rPr>
              <a:t>→ Mitigación: Ashley correrá Locust el martes y agregará el reporte HTML.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6B7A"/>
                </a:solidFill>
                <a:latin typeface="Calibri"/>
              </a:rPr>
              <a:t>HELIOS — Daily Scrum Semana 2 · Sprint 1 — UTP Calidad de Software ·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8478"/>
                </a:solidFill>
                <a:latin typeface="Calibri"/>
              </a:rPr>
              <a:t>EVIDENCIAS DE HERRAMIENTAS — BACKLOG JIRA HELL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365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0A8478"/>
                </a:solidFill>
                <a:latin typeface="Calibri"/>
              </a:rPr>
              <a:t>P5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6B7A"/>
                </a:solidFill>
                <a:latin typeface="Calibri"/>
              </a:rPr>
              <a:t>5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0A4F6B"/>
                </a:solidFill>
                <a:latin typeface="Calibri"/>
              </a:rPr>
              <a:t>Tablero de tareas en Jira (proyecto HELL)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4A6B7A"/>
                </a:solidFill>
                <a:latin typeface="Calibri"/>
              </a:rPr>
              <a:t>15 issues creadas via API · 10 Done · 2 In Progress · 3 To Do · 53 Story Points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20240"/>
            <a:ext cx="11247120" cy="4297680"/>
          </a:xfrm>
          <a:prstGeom prst="rect">
            <a:avLst/>
          </a:prstGeom>
          <a:solidFill>
            <a:srgbClr val="FFFFFF"/>
          </a:solidFill>
          <a:ln>
            <a:solidFill>
              <a:srgbClr val="0A8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kanban_ji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1680"/>
            <a:ext cx="11064240" cy="41148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solidFill>
            <a:srgbClr val="0A4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391656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Cada issue tiene responsable, story points y descripción técnica · Backlog evidencia cumplimiento de la Unidad II punto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6B7A"/>
                </a:solidFill>
                <a:latin typeface="Calibri"/>
              </a:rPr>
              <a:t>HELIOS — Daily Scrum Semana 2 · Sprint 1 — UTP Calidad de Software ·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8478"/>
                </a:solidFill>
                <a:latin typeface="Calibri"/>
              </a:rPr>
              <a:t>APLICACIÓN DE LA UNIDAD II — ISTQB · TMMI · TQM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365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0A8478"/>
                </a:solidFill>
                <a:latin typeface="Calibri"/>
              </a:rPr>
              <a:t>P6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6B7A"/>
                </a:solidFill>
                <a:latin typeface="Calibri"/>
              </a:rPr>
              <a:t>6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0A4F6B"/>
                </a:solidFill>
                <a:latin typeface="Calibri"/>
              </a:rPr>
              <a:t>Métricas Sprint 1 — Semana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4A6B7A"/>
                </a:solidFill>
                <a:latin typeface="Calibri"/>
              </a:rPr>
              <a:t>Cada métrica está alineada con un marco de calidad de la Unidad II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20240"/>
            <a:ext cx="11247120" cy="365760"/>
          </a:xfrm>
          <a:prstGeom prst="rect">
            <a:avLst/>
          </a:prstGeom>
          <a:solidFill>
            <a:srgbClr val="0A4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Categoría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99339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Métrica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199339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Valor real medido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1993392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Herramienta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0" y="19933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Marco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8600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34086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Requerimientos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34086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Cobertura US con criterios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23408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100% (5/5)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234086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Notion + Obsidian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234086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 · TMMi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60604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66090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Requerimientos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266090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Trazabilidad US→BD→Comp→Test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266090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5/5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66090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Matriz manual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266090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TMMi Nivel 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92608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8094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Requerimientos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7440" y="298094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Volatilidad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0" y="298094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0 cambios mid-sprint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298094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Backlog Jira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0" y="298094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TQM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24612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30098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Diseño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77440" y="330098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Tablas BD vs documentadas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77840" y="33009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7/7 (100%)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330098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Supabase + Obsidian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9840" y="330098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ISO/IEC 25010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356616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362102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Diseño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77440" y="362102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Componentes con SRP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77840" y="362102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9/9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60" y="362102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Code review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49840" y="362102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TMMi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88620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94106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Código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394106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Cobertura statements (Vitest)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39410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65.26%  (≥ 60% target)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0" y="394106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Vitest v8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49840" y="394106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420624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426110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Código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77440" y="426110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Cobertura lines / functions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26110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81.72% / 89.28%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38160" y="426110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Vitest v8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49840" y="426110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52628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8640" y="458114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Código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40" y="458114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Tests automatizados pasando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77840" y="458114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39/39 (100%)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38160" y="458114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Vitest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49840" y="458114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TMMi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7200" y="484632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8640" y="490118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No funcional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77440" y="490118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Latencia P50 (Locust)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77840" y="49011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120 ms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38160" y="490118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Locust 2.31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49840" y="490118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 rendimiento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7200" y="516636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8640" y="522122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No funcional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522122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Latencia P95 (Locust)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577840" y="522122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300 ms  (target &lt;2000 ms)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38160" y="522122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Locust 2.31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49840" y="522122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 rendimiento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7200" y="548640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8640" y="554126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No funcional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77440" y="554126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Tasa de error bajo carga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577840" y="55412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0/6.105 = 0.00%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38160" y="554126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Locust 2.31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49840" y="554126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57200" y="580644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48640" y="586130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No funcional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77440" y="586130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Throughput sostenido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77840" y="586130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103.85 req/s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38160" y="586130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Locust 2.31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149840" y="586130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200" y="612648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8640" y="618134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Clásicas (Pressman)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377440" y="618134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KLOC del Sprint (producto)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577840" y="618134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1.71 KLOC medidas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138160" y="618134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Script Python conteo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149840" y="618134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Pressman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48640" y="650138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Clásicas (Pressman)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77440" y="650138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Productividad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577840" y="6501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0.342 KLOC/persona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138160" y="650138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1.71/5 personas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149840" y="650138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Pressman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57200" y="676656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8640" y="682142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Clásicas (Pressman)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377440" y="682142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Tasa de defectos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577840" y="682142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5.26 bugs/KLOC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138160" y="682142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9 bugs / 1.71 KLOC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49840" y="682142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Pressman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457200" y="708660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48640" y="714146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Proceso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377440" y="714146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Ciclo Goal→Metric→Acción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577840" y="71414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Documentado en daily MD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138160" y="714146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Daily Scrum semanal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149840" y="714146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TQM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57200" y="6446520"/>
            <a:ext cx="11247120" cy="292608"/>
          </a:xfrm>
          <a:prstGeom prst="rect">
            <a:avLst/>
          </a:prstGeom>
          <a:solidFill>
            <a:srgbClr val="0A4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40080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Marcos aplicados: ISTQB Foundation 2018 · TMMi (medición y control) · TQM (mejora continua) · ISO/IEC 25010 · Pressman (2010)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