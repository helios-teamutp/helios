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A4F6B"/>
                </a:solidFill>
                <a:latin typeface="Calibri"/>
              </a:rPr>
              <a:t>HELIOS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A"/>
                </a:solidFill>
                <a:latin typeface="Calibri"/>
              </a:rPr>
              <a:t>Sistema unificado de citas medicas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A36"/>
                </a:solidFill>
                <a:latin typeface="Calibri"/>
              </a:rPr>
              <a:t>Sprint 2 — Cancelacion y Reprogramacion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A8478"/>
                </a:solidFill>
                <a:latin typeface="Calibri"/>
              </a:rPr>
              <a:t>+ 6 bugs resueltos · seguridad RLS reforzada · 117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A36"/>
                </a:solidFill>
                <a:latin typeface="Calibri"/>
              </a:rPr>
              <a:t>Grupo HELIOS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A"/>
                </a:solidFill>
                <a:latin typeface="Calibri"/>
              </a:rPr>
              <a:t>Jose Brown (PO) · Ethan Gonzalez (Frontend) · Alejandro Saenz (Tech Lead)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A"/>
                </a:solidFill>
                <a:latin typeface="Calibri"/>
              </a:rPr>
              <a:t>Ashley Martinez (QA) · Marian Barba (Scrum Master / DevOps)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UTP · Calidad de Software · 2026 · Presentacion 5 minutos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DAILY SCRUM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Las 3 preguntas del Sprint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37360"/>
            <a:ext cx="3749039" cy="4206240"/>
          </a:xfrm>
          <a:prstGeom prst="rect">
            <a:avLst/>
          </a:prstGeom>
          <a:solidFill>
            <a:srgbClr val="F4F7F8"/>
          </a:solidFill>
          <a:ln w="2540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3749039" cy="73152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383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8478"/>
                </a:solidFill>
                <a:latin typeface="Calibri"/>
              </a:rPr>
              <a:t>Que hicimos?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3832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Cancelar cita (autoservicio)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Reprogramar cita a otro horario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Tabla de auditoria citas_historial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6 bugs resueltos (B-21..B-26)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Cerramos hueco de seguridad RLS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737360"/>
            <a:ext cx="3749039" cy="4206240"/>
          </a:xfrm>
          <a:prstGeom prst="rect">
            <a:avLst/>
          </a:prstGeom>
          <a:solidFill>
            <a:srgbClr val="F4F7F8"/>
          </a:solidFill>
          <a:ln w="25400">
            <a:solidFill>
              <a:srgbClr val="1FA8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737360"/>
            <a:ext cx="3749039" cy="73152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39" y="1920240"/>
            <a:ext cx="3383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A89B"/>
                </a:solidFill>
                <a:latin typeface="Calibri"/>
              </a:rPr>
              <a:t>Que sigue?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2514600"/>
            <a:ext cx="33832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Sprint 3: Sincronizacion entre sedes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Sprint 4: Notificaciones por email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Sprint 5: Pruebas (OWASP ZAP +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  Lighthouse) y cierre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Mover chequeo cedula a RPC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38" y="1737360"/>
            <a:ext cx="3749039" cy="4206240"/>
          </a:xfrm>
          <a:prstGeom prst="rect">
            <a:avLst/>
          </a:prstGeom>
          <a:solidFill>
            <a:srgbClr val="F4F7F8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38" y="1737360"/>
            <a:ext cx="3749039" cy="73152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8" y="1920240"/>
            <a:ext cx="3383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A8A04"/>
                </a:solidFill>
                <a:latin typeface="Calibri"/>
              </a:rPr>
              <a:t>Bloqueos?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8" y="2514600"/>
            <a:ext cx="33832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Bug critico de UNIQUE en cancelar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  (lo detecto el code review)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Resuelto: indice unico parcial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Cero regresiones del Sprint 1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Todo en produccion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Marian (Scrum Master) — 40s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554480" cy="3200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Cancelar y reprogramar una cita</a:t>
            </a:r>
          </a:p>
        </p:txBody>
      </p:sp>
      <p:pic>
        <p:nvPicPr>
          <p:cNvPr id="5" name="Picture 4" descr="qr_helios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393192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A6B7A"/>
                </a:solidFill>
                <a:latin typeface="Calibri"/>
              </a:rPr>
              <a:t>helios-web-production.up.railway.app</a:t>
            </a:r>
          </a:p>
        </p:txBody>
      </p:sp>
      <p:sp>
        <p:nvSpPr>
          <p:cNvPr id="7" name="Oval 6"/>
          <p:cNvSpPr/>
          <p:nvPr/>
        </p:nvSpPr>
        <p:spPr>
          <a:xfrm>
            <a:off x="5212080" y="182880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883664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Inicia sesion y ve a 'Mis Citas'</a:t>
            </a:r>
          </a:p>
        </p:txBody>
      </p:sp>
      <p:sp>
        <p:nvSpPr>
          <p:cNvPr id="9" name="Oval 8"/>
          <p:cNvSpPr/>
          <p:nvPr/>
        </p:nvSpPr>
        <p:spPr>
          <a:xfrm>
            <a:off x="5212080" y="246888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523744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En una cita confirmada: Cancelar o Reprogramar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310896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163824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Cancelar -&gt; confirma -&gt; queda 'Cancelada'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0" y="374904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803904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El horario se libera para otros pacientes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0" y="438912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443984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Reprogramar -&gt; elige otra hora del calendario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0" y="502920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5084064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2A36"/>
                </a:solidFill>
                <a:latin typeface="Calibri"/>
              </a:rPr>
              <a:t>La cita se mueve, sin perder el codigo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Ashley (QA) — 60s — Demo en vivo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3200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BUGS RESUELTOS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6 bugs arreglados en Sprint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822960" cy="457200"/>
          </a:xfrm>
          <a:prstGeom prst="round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733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Calendario desfasaba la hora (zona horaria)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2082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Vista de botones timezone-safe; se quito FullCalendar (bundle -34%)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41448"/>
            <a:ext cx="822960" cy="457200"/>
          </a:xfrm>
          <a:prstGeom prst="round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231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Cedula rechazaba tipos validos (PE-5-687)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063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Soporta 5 tipos panameños + ejemplos + deteccion de tipo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91256"/>
            <a:ext cx="822960" cy="457200"/>
          </a:xfrm>
          <a:prstGeom prst="round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7296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Sin doble confirmacion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204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Confirmar cedula y contraseña deben coincidir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41064"/>
            <a:ext cx="822960" cy="457200"/>
          </a:xfrm>
          <a:prstGeom prst="round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B-24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227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Sin validar telefono/nombre/correo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70248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Validaciones que rechazan datos basura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90872"/>
            <a:ext cx="822960" cy="457200"/>
          </a:xfrm>
          <a:prstGeom prst="round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B-25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67258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Dejaba agendar horas ya pasadas de hoy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2005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Filtra slots vencidos del dia actual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40680"/>
            <a:ext cx="822960" cy="457200"/>
          </a:xfrm>
          <a:prstGeom prst="round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4223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RLS permisiva: acceso a datos ajenos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76986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Cerrado el hueco sprint1_all en 7 tablas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— 50s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28600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CANCELAR / REPROGRAMAR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Como lo construimos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A89B"/>
                </a:solidFill>
                <a:latin typeface="Calibri"/>
              </a:rPr>
              <a:t>FRONTEND (Ethan)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Hooks useCancelarCita / useReprogramarCita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Boton Cancelar con modal de confirmacion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Modal Reprogramar que reusa el calendario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  (vista de botones timezone-safe)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MisCitas: badges por estado + botones solo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  en citas confirmadas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Dashboard medico: oculta canceladas de hoy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Manejo de errores con mensaje claro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554480"/>
            <a:ext cx="18288" cy="4754880"/>
          </a:xfrm>
          <a:prstGeom prst="rect">
            <a:avLst/>
          </a:prstGeom>
          <a:solidFill>
            <a:srgbClr val="4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C97"/>
                </a:solidFill>
                <a:latin typeface="Calibri"/>
              </a:rPr>
              <a:t>BACKEND / SQL (Alejandro)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cancelar_cita_atomica(cita): libera horario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reprogramar_cita_atomica(cita, nuevo): swap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Ambas SECURITY DEFINER: validan dueño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FOR UPDATE: evita 2 pacientes mismo slot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Tabla citas_historial + trigger (auditoria)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Fix critico (code review): UNIQUE(horario_id)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0F2A36"/>
                </a:solidFill>
                <a:latin typeface="Calibri"/>
              </a:rPr>
              <a:t>•    -&gt; indice unico PARCIAL (excluye canceladas)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Ethan + Alejandro — 60s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554480" cy="3200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B-26: cerramos un hueco real de RLS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486400" cy="2011680"/>
          </a:xfrm>
          <a:prstGeom prst="rect">
            <a:avLst/>
          </a:prstGeom>
          <a:solidFill>
            <a:srgbClr val="F4F7F8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ANTES (vulnerable)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Policy 'sprint1_all' permisiva en 7 tablas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Cualquier usuario podia leer/modificar/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  borrar datos de OTROS por la API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B-14 agrego reglas estrictas pero no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  borro la permisiva (se anulaban)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00" cy="2011680"/>
          </a:xfrm>
          <a:prstGeom prst="rect">
            <a:avLst/>
          </a:prstGeom>
          <a:solidFill>
            <a:srgbClr val="F4F7F8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Calibri"/>
              </a:rPr>
              <a:t>DESPUES (seguro)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Migracion transaccional: re-crea reglas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  estrictas y LUEGO borra la permisiva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Cada quien ve/edita SOLO lo suyo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Sin romper nada (0 datos perdidos)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0F2A36"/>
                </a:solidFill>
                <a:latin typeface="Calibri"/>
              </a:rPr>
              <a:t>•  Con rollback de emergencia incluido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11247120" cy="1280160"/>
          </a:xfrm>
          <a:prstGeom prst="rect">
            <a:avLst/>
          </a:prstGeom>
          <a:solidFill>
            <a:srgbClr val="0F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Importante: NO se borro ningun usuario, contraseña ni dato.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DDC97"/>
                </a:solidFill>
                <a:latin typeface="Calibri"/>
              </a:rPr>
              <a:t>Solo se cambiaron REGLAS de permiso (policies). auth.users intacto. Las cuentas de la demo siguen funcionando igual.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Alejandro (Tech Lead) — 35s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METRICAS SPRINT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Lo que medimos (ISTQB)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3949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A8478"/>
                </a:solidFill>
                <a:latin typeface="Calibri"/>
              </a:rPr>
              <a:t>117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0312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36"/>
                </a:solidFill>
                <a:latin typeface="Calibri"/>
              </a:rPr>
              <a:t>Tests automatizados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74320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+52 vs Sprint 1. Todos pasan.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3949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A8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A89B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0312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36"/>
                </a:solidFill>
                <a:latin typeface="Calibri"/>
              </a:rPr>
              <a:t>Bugs pendientes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74320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6 detectados, 6 resueltos.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53949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3DDC97"/>
                </a:solidFill>
                <a:latin typeface="Calibri"/>
              </a:rPr>
              <a:t>503 KB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36"/>
                </a:solidFill>
                <a:latin typeface="Calibri"/>
              </a:rPr>
              <a:t>Bundle (gzip 143 KB)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84632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Bajo de 754 KB (sin FullCalendar).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931920"/>
            <a:ext cx="53949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11480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CA8A04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20624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36"/>
                </a:solidFill>
                <a:latin typeface="Calibri"/>
              </a:rPr>
              <a:t>Funciones SQL atomicas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84632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crear / cancelar / reprogramar.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— 40s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64592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A36"/>
                </a:solidFill>
                <a:latin typeface="Calibri"/>
              </a:rPr>
              <a:t>Sprint 2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0F2A36"/>
                </a:solidFill>
                <a:latin typeface="Calibri"/>
              </a:rPr>
              <a:t>•  Cancelar y reprogramar citas en produccion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0F2A36"/>
                </a:solidFill>
                <a:latin typeface="Calibri"/>
              </a:rPr>
              <a:t>•  6 bugs resueltos (calendario, cedula, validaciones, seguridad)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0F2A36"/>
                </a:solidFill>
                <a:latin typeface="Calibri"/>
              </a:rPr>
              <a:t>•  Auditoria de cambios con citas_historial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0F2A36"/>
                </a:solidFill>
                <a:latin typeface="Calibri"/>
              </a:rPr>
              <a:t>•  Hueco de seguridad RLS cerrado (B-26)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0F2A36"/>
                </a:solidFill>
                <a:latin typeface="Calibri"/>
              </a:rPr>
              <a:t>•  117 tests · build limpio · cero regresiones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Sprint 2 entregado. Siguiente: Sincronizacion entre sedes (Sprint 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DDC97"/>
                </a:solidFill>
                <a:latin typeface="Calibri"/>
              </a:rPr>
              <a:t>Gracias. Preguntas?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— 25s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