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0A4F6B"/>
                </a:solidFill>
                <a:latin typeface="Calibri"/>
              </a:rPr>
              <a:t>HELIOS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4A6B7A"/>
                </a:solidFill>
                <a:latin typeface="Calibri"/>
              </a:rPr>
              <a:t>Sistema unificado de citas medicas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2A36"/>
                </a:solidFill>
                <a:latin typeface="Calibri"/>
              </a:rPr>
              <a:t>Sprint 1 - Confirmacion de cita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A8478"/>
                </a:solidFill>
                <a:latin typeface="Calibri"/>
              </a:rPr>
              <a:t>MVP en produccion - 20 bugs resueltos - 5 agentes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2A36"/>
                </a:solidFill>
                <a:latin typeface="Calibri"/>
              </a:rPr>
              <a:t>Grupo HELIOS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Jose Brown (PO) - Ethan Gonzalez (Frontend) - Alejandro Saenz (Tech Lead)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Ashley Martinez (QA) - Marian Barba (Scrum Master / DevOps)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A6B7A"/>
                </a:solidFill>
                <a:latin typeface="Calibri"/>
              </a:rPr>
              <a:t>UTP - Calidad de Software - 2026 - Presentacion 10 minutos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DAILY SCRUM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Las 3 preguntas obligatorias del Daily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3749039" cy="4297680"/>
          </a:xfrm>
          <a:prstGeom prst="rect">
            <a:avLst/>
          </a:prstGeom>
          <a:solidFill>
            <a:srgbClr val="F4F7F8"/>
          </a:solidFill>
          <a:ln w="2540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3749039" cy="73152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0240"/>
            <a:ext cx="3383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A8478"/>
                </a:solidFill>
                <a:latin typeface="Calibri"/>
              </a:rPr>
              <a:t>Que hicimos?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56032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- 5 historias completadas (US-01 a US-05)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Dashboard medico desplegado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Seguridad RLS multicapa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- 65 tests automatizados PASS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- 20 bugs cazados y resueltos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- 5 agentes IA configurados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737360"/>
            <a:ext cx="3749039" cy="4297680"/>
          </a:xfrm>
          <a:prstGeom prst="rect">
            <a:avLst/>
          </a:prstGeom>
          <a:solidFill>
            <a:srgbClr val="F4F7F8"/>
          </a:solidFill>
          <a:ln w="2540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59" y="1737360"/>
            <a:ext cx="3749039" cy="73152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39" y="1920240"/>
            <a:ext cx="3383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A89B"/>
                </a:solidFill>
                <a:latin typeface="Calibri"/>
              </a:rPr>
              <a:t>Que haremos en Sprint 2?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39" y="256032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Cancelar cita (autoservicio)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Reprogramar cita a otro horario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Tabla citas_historial (auditoria)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Tests E2E con Playwright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SonarCloud en CI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Locust a 300 usuarios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38" y="1737360"/>
            <a:ext cx="3749039" cy="4297680"/>
          </a:xfrm>
          <a:prstGeom prst="rect">
            <a:avLst/>
          </a:prstGeom>
          <a:solidFill>
            <a:srgbClr val="F4F7F8"/>
          </a:solidFill>
          <a:ln w="2540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38" y="1737360"/>
            <a:ext cx="3749039" cy="73152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8" y="1920240"/>
            <a:ext cx="3383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CA8A04"/>
                </a:solidFill>
                <a:latin typeface="Calibri"/>
              </a:rPr>
              <a:t>Que bloqueos tuvimos?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8" y="2560320"/>
            <a:ext cx="338327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Bug B-20 race React (4 iteraciones)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Detectado en uso real por PO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Spinner &gt;10s tras F5 (B-15+B-17)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Resueltos con Plan Mode + tests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Cero pendientes al cierre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Documentados en 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Marian (Scrum Master) - 25s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Escanea el QR y pruebalo en tu celular</a:t>
            </a:r>
          </a:p>
        </p:txBody>
      </p:sp>
      <p:pic>
        <p:nvPicPr>
          <p:cNvPr id="5" name="Picture 4" descr="qr_helios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1148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4A6B7A"/>
                </a:solidFill>
                <a:latin typeface="Calibri"/>
              </a:rPr>
              <a:t>helios-web-production.up.railway.app</a:t>
            </a:r>
          </a:p>
        </p:txBody>
      </p:sp>
      <p:sp>
        <p:nvSpPr>
          <p:cNvPr id="7" name="Oval 6"/>
          <p:cNvSpPr/>
          <p:nvPr/>
        </p:nvSpPr>
        <p:spPr>
          <a:xfrm>
            <a:off x="5303520" y="182880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90195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Registrate con un correo nuevo</a:t>
            </a:r>
          </a:p>
        </p:txBody>
      </p:sp>
      <p:sp>
        <p:nvSpPr>
          <p:cNvPr id="9" name="Oval 8"/>
          <p:cNvSpPr/>
          <p:nvPr/>
        </p:nvSpPr>
        <p:spPr>
          <a:xfrm>
            <a:off x="5303520" y="242316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9631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Elige especialidad y sede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0" y="301752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09067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Selecciona medico de la lista</a:t>
            </a:r>
          </a:p>
        </p:txBody>
      </p:sp>
      <p:sp>
        <p:nvSpPr>
          <p:cNvPr id="13" name="Oval 12"/>
          <p:cNvSpPr/>
          <p:nvPr/>
        </p:nvSpPr>
        <p:spPr>
          <a:xfrm>
            <a:off x="5303520" y="361188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68503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Elige horario en el calendario</a:t>
            </a:r>
          </a:p>
        </p:txBody>
      </p:sp>
      <p:sp>
        <p:nvSpPr>
          <p:cNvPr id="15" name="Oval 14"/>
          <p:cNvSpPr/>
          <p:nvPr/>
        </p:nvSpPr>
        <p:spPr>
          <a:xfrm>
            <a:off x="5303520" y="420624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7939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Confirma con tu cedula panamena</a:t>
            </a:r>
          </a:p>
        </p:txBody>
      </p:sp>
      <p:sp>
        <p:nvSpPr>
          <p:cNvPr id="17" name="Oval 16"/>
          <p:cNvSpPr/>
          <p:nvPr/>
        </p:nvSpPr>
        <p:spPr>
          <a:xfrm>
            <a:off x="5303520" y="4800600"/>
            <a:ext cx="457200" cy="457200"/>
          </a:xfrm>
          <a:prstGeom prst="ellipse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873752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2A36"/>
                </a:solidFill>
                <a:latin typeface="Calibri"/>
              </a:rPr>
              <a:t>Recibe codigo de cita unico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Ashley (QA) - 55s - Demo en vivo desde el celular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73736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APORTE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Que hizo cada integrante del equipo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249424" cy="4297680"/>
          </a:xfrm>
          <a:prstGeom prst="rect">
            <a:avLst/>
          </a:prstGeom>
          <a:solidFill>
            <a:srgbClr val="F4F7F8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2249424" cy="82296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Jose Brown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PO - 22 commits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19751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Valido cada deploy real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Detecto 8 bugs en uso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Lidero las 4 iteraciones B-20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Configuro agentes 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88336" y="1737360"/>
            <a:ext cx="2249424" cy="4297680"/>
          </a:xfrm>
          <a:prstGeom prst="rect">
            <a:avLst/>
          </a:prstGeom>
          <a:solidFill>
            <a:srgbClr val="F4F7F8"/>
          </a:solidFill>
          <a:ln w="19050">
            <a:solidFill>
              <a:srgbClr val="0A4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8336" y="1737360"/>
            <a:ext cx="2249424" cy="82296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79776" y="182880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Marian Barba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219456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Scrum/DevOps - 26 commits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496" y="2697480"/>
            <a:ext cx="19751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Setup proyecto + CI/CD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Deploys a Railway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Configura agentes IA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Coordina Scrum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10912" y="1737360"/>
            <a:ext cx="2249424" cy="4297680"/>
          </a:xfrm>
          <a:prstGeom prst="rect">
            <a:avLst/>
          </a:prstGeom>
          <a:solidFill>
            <a:srgbClr val="F4F7F8"/>
          </a:solidFill>
          <a:ln w="1905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10912" y="1737360"/>
            <a:ext cx="2249424" cy="822960"/>
          </a:xfrm>
          <a:prstGeom prst="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182880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Ethan Gonzalez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219456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Frontend - React 19+TS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2697480"/>
            <a:ext cx="19751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- 8 componentes React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Fix B-05 + B-08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Vista mobile (B-18)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Tipado estricto (cero any)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1737360"/>
            <a:ext cx="2249424" cy="4297680"/>
          </a:xfrm>
          <a:prstGeom prst="rect">
            <a:avLst/>
          </a:prstGeom>
          <a:solidFill>
            <a:srgbClr val="F4F7F8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33488" y="1737360"/>
            <a:ext cx="2249424" cy="8229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4928" y="182880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Alejandro Saenz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19456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Tech Lead - Supabase+SQL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697480"/>
            <a:ext cx="19751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Arquitectura RLS multicapa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Funcion atomica SQL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Fix B-09 seguridad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- 6 tablas + 2 vinculos auth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56064" y="1737360"/>
            <a:ext cx="2249424" cy="4297680"/>
          </a:xfrm>
          <a:prstGeom prst="rect">
            <a:avLst/>
          </a:prstGeom>
          <a:solidFill>
            <a:srgbClr val="F4F7F8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56064" y="1737360"/>
            <a:ext cx="2249424" cy="82296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182880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Ashley Martinez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19456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QA - 6 commits docs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93224" y="2697480"/>
            <a:ext cx="197510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Pruebas funcionales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Documentacion metricas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Casos de prueba demo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0F2A36"/>
                </a:solidFill>
                <a:latin typeface="Calibri"/>
              </a:rPr>
              <a:t>- Calculo 8.70 bugs/KLOC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+ Ethan + Alejandro - 100s - Aportes individuales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FLUJO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Como navega un paciente / medico por HELIOS</a:t>
            </a:r>
          </a:p>
        </p:txBody>
      </p:sp>
      <p:pic>
        <p:nvPicPr>
          <p:cNvPr id="5" name="Picture 4" descr="diagrama_flujo_usu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45920"/>
            <a:ext cx="2038556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2A36"/>
                </a:solidFill>
                <a:latin typeface="Calibri"/>
              </a:rPr>
              <a:t>Rutas principales: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Paciente nuevo: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Registro -&gt; Login -&gt; Agendar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Paciente existente: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5584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Login -&gt; Agendar / Mis Citas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4048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Medico: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3308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Login -&gt; Dashboard agenda hoy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Race React (B-20):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10328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INSERT en onAuthStateChange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- 45s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AGENTES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5 agentes IA especializados del equipo HELIOS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A6B7A"/>
                </a:solidFill>
                <a:latin typeface="Calibri"/>
              </a:rPr>
              <a:t>Cada agente esta especializado. Coordinacion automatica via orchestrator.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249424" cy="3657600"/>
          </a:xfrm>
          <a:prstGeom prst="rect">
            <a:avLst/>
          </a:prstGeom>
          <a:solidFill>
            <a:srgbClr val="F4F7F8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249424" cy="8229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Team 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helios-orchestrator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197510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Coordina al equipo segun el tipo de cambio. SIEMPRE primero.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88336" y="2011680"/>
            <a:ext cx="2249424" cy="3657600"/>
          </a:xfrm>
          <a:prstGeom prst="rect">
            <a:avLst/>
          </a:prstGeom>
          <a:solidFill>
            <a:srgbClr val="F4F7F8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88336" y="2011680"/>
            <a:ext cx="2249424" cy="82296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9776" y="210312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Frontend Expert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246888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helios-frontend-expert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25496" y="2971800"/>
            <a:ext cx="197510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React 19 + TS 6 + Vite + Tailwind + Supabase. Conoce el stack.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10912" y="2011680"/>
            <a:ext cx="2249424" cy="3657600"/>
          </a:xfrm>
          <a:prstGeom prst="rect">
            <a:avLst/>
          </a:prstGeom>
          <a:solidFill>
            <a:srgbClr val="F4F7F8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10912" y="2011680"/>
            <a:ext cx="2249424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02352" y="210312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Bug Hunter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246888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helios-bug-hunter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2971800"/>
            <a:ext cx="197510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Detecta loading infinitos, race conditions, promesas sin catch.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33488" y="2011680"/>
            <a:ext cx="2249424" cy="3657600"/>
          </a:xfrm>
          <a:prstGeom prst="rect">
            <a:avLst/>
          </a:prstGeom>
          <a:solidFill>
            <a:srgbClr val="F4F7F8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3488" y="2011680"/>
            <a:ext cx="2249424" cy="822960"/>
          </a:xfrm>
          <a:prstGeom prst="rect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8" y="210312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Clean 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8" y="246888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helios-clean-code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2971800"/>
            <a:ext cx="197510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JSDoc, naming, complexity, codigo muerto, agrupacion imports.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56064" y="2011680"/>
            <a:ext cx="2249424" cy="3657600"/>
          </a:xfrm>
          <a:prstGeom prst="rect">
            <a:avLst/>
          </a:prstGeom>
          <a:solidFill>
            <a:srgbClr val="F4F7F8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56064" y="2011680"/>
            <a:ext cx="2249424" cy="82296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7504" y="2103120"/>
            <a:ext cx="206654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Test Engineer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2468880"/>
            <a:ext cx="206654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helios-test-engineer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93224" y="2971800"/>
            <a:ext cx="1975104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Vitest + RTL, cobertura &gt;=60%, tests de regresion por bug.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943600"/>
            <a:ext cx="11430000" cy="45720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Resultado: ciclos Plan-&gt;Code-&gt;Review-&gt;Test-&gt;Deploy en &lt;30 min por bug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(PO) - 90s - Innovacion: agentes IA especializados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73736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METRICAS +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Lo que medimos + lo que cazamos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A4F6B"/>
                </a:solidFill>
                <a:latin typeface="Calibri"/>
              </a:rPr>
              <a:t>METRICAS ISTQB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4884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A8478"/>
                </a:solidFill>
                <a:latin typeface="Calibri"/>
              </a:rP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5468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Tests automatizados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2011680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A8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FA89B"/>
                </a:solidFill>
                <a:latin typeface="Calibri"/>
              </a:rPr>
              <a:t>61.4%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15468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Cobertura statements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DC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06908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3DDC97"/>
                </a:solidFill>
                <a:latin typeface="Calibri"/>
              </a:rPr>
              <a:t>300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07492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Latencia P95 (200 users)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3931920"/>
            <a:ext cx="269748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4069080"/>
            <a:ext cx="2423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CA8A04"/>
                </a:solidFill>
                <a:latin typeface="Calibri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074920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0F2A36"/>
                </a:solidFill>
                <a:latin typeface="Calibri"/>
              </a:rPr>
              <a:t>Defectos resueltos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463040"/>
            <a:ext cx="18288" cy="4754880"/>
          </a:xfrm>
          <a:prstGeom prst="rect">
            <a:avLst/>
          </a:prstGeom>
          <a:solidFill>
            <a:srgbClr val="4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Calibri"/>
              </a:rPr>
              <a:t>BUGS DETECTADOS (20)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11680"/>
            <a:ext cx="86868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Critica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0482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7 bugs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395728"/>
            <a:ext cx="868680" cy="320040"/>
          </a:xfrm>
          <a:prstGeom prst="round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Alta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43230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8 bugs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779776"/>
            <a:ext cx="868680" cy="320040"/>
          </a:xfrm>
          <a:prstGeom prst="roundRect">
            <a:avLst/>
          </a:prstGeom>
          <a:solidFill>
            <a:srgbClr val="1FA8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Media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81635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4 bugs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163824"/>
            <a:ext cx="868680" cy="3200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Baja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32004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1 bug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6576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A4F6B"/>
                </a:solidFill>
                <a:latin typeface="Calibri"/>
              </a:rPr>
              <a:t>Detector de bugs: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0233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PO uso real: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023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15 (75%)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15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Code review: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31596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3 (15%)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08576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Tests auto: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6085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A8478"/>
                </a:solidFill>
                <a:latin typeface="Calibri"/>
              </a:rPr>
              <a:t>2 (10%)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029200"/>
            <a:ext cx="5486400" cy="1280160"/>
          </a:xfrm>
          <a:prstGeom prst="rect">
            <a:avLst/>
          </a:prstGeom>
          <a:solidFill>
            <a:srgbClr val="F4F7F8"/>
          </a:solidFill>
          <a:ln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074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Calibri"/>
              </a:rPr>
              <a:t>B-20: 4 iteraciones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34924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Race React closure (refreshPerfil)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56692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0F2A36"/>
                </a:solidFill>
                <a:latin typeface="Calibri"/>
              </a:rPr>
              <a:t>Fix: mover INSERT a useAuth listener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9436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A8A04"/>
                </a:solidFill>
                <a:latin typeface="Calibri"/>
              </a:rPr>
              <a:t>Pista PO: "si cierro sesion y vuelvo, funciona"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Jose 40s (ISTQB) + Marian 80s (Bugs) - 120s total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463040" cy="320040"/>
          </a:xfrm>
          <a:prstGeom prst="round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430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F2A36"/>
                </a:solidFill>
                <a:latin typeface="Calibri"/>
              </a:rPr>
              <a:t>SonarCloud LIVE + Kanban + Sprint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737360" cy="3200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SONARCLOUD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4F6B"/>
                </a:solidFill>
                <a:latin typeface="Calibri"/>
              </a:rPr>
              <a:t>Demo en vivo del dashboard: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Bugs detectados automaticamente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Code smells (patrones problematicos)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Vulnerabilidades de seguridad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Coverage 61.4% (validado externamente)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2A36"/>
                </a:solidFill>
                <a:latin typeface="Calibri"/>
              </a:rPr>
              <a:t>- Quality Gate PASS/FAIL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80560"/>
            <a:ext cx="5486400" cy="1645920"/>
          </a:xfrm>
          <a:prstGeom prst="rect">
            <a:avLst/>
          </a:prstGeom>
          <a:solidFill>
            <a:srgbClr val="0F2A36"/>
          </a:solidFill>
          <a:ln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SonarCloud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DDC97"/>
                </a:solidFill>
                <a:latin typeface="Calibri"/>
              </a:rPr>
              <a:t>Abriremos en vivo el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406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MarianC-programing_Helios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3DDC97"/>
                </a:solidFill>
                <a:latin typeface="Calibri"/>
              </a:rPr>
              <a:t>(escanea cada push automatico)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463040"/>
            <a:ext cx="18288" cy="4754880"/>
          </a:xfrm>
          <a:prstGeom prst="rect">
            <a:avLst/>
          </a:prstGeom>
          <a:solidFill>
            <a:srgbClr val="4A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1737360" cy="320040"/>
          </a:xfrm>
          <a:prstGeom prst="round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KANBAN JIRA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1783080" cy="1188720"/>
          </a:xfrm>
          <a:prstGeom prst="rect">
            <a:avLst/>
          </a:prstGeom>
          <a:solidFill>
            <a:srgbClr val="F4F7F8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178308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F2A36"/>
                </a:solidFill>
                <a:latin typeface="Calibri"/>
              </a:rPr>
              <a:t>20 bugs + 5 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1783080" cy="1188720"/>
          </a:xfrm>
          <a:prstGeom prst="rect">
            <a:avLst/>
          </a:prstGeom>
          <a:solidFill>
            <a:srgbClr val="F4F7F8"/>
          </a:solidFill>
          <a:ln w="19050">
            <a:solidFill>
              <a:srgbClr val="0A84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011680"/>
            <a:ext cx="1783080" cy="365760"/>
          </a:xfrm>
          <a:prstGeom prst="rect">
            <a:avLst/>
          </a:prstGeom>
          <a:solidFill>
            <a:srgbClr val="0A8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05740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468880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F2A36"/>
                </a:solidFill>
                <a:latin typeface="Calibri"/>
              </a:rPr>
              <a:t>Cancelar / reprog.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0" y="2011680"/>
            <a:ext cx="1783080" cy="1188720"/>
          </a:xfrm>
          <a:prstGeom prst="rect">
            <a:avLst/>
          </a:prstGeom>
          <a:solidFill>
            <a:srgbClr val="F4F7F8"/>
          </a:solidFill>
          <a:ln w="19050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0" y="2011680"/>
            <a:ext cx="1783080" cy="36576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057400"/>
            <a:ext cx="1783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To 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2468880"/>
            <a:ext cx="1600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0F2A36"/>
                </a:solidFill>
                <a:latin typeface="Calibri"/>
              </a:rPr>
              <a:t>Sprint 2 HELL-3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74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A4F6B"/>
                </a:solidFill>
                <a:latin typeface="Calibri"/>
              </a:rPr>
              <a:t>7 herramientas: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8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- 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84048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Repo + commits firmados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330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- Jira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13308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Kanban 21 issues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425696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- Vitest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425696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65 tests automatizados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18304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- Locust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718304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P95 300ms con 200 users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010912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- Supabase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5010912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BD + Auth +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3035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- Railway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303520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Deploy CI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59612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2A36"/>
                </a:solidFill>
                <a:latin typeface="Calibri"/>
              </a:rPr>
              <a:t>- SonarCloud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0" y="5596128"/>
            <a:ext cx="4023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4A6B7A"/>
                </a:solidFill>
                <a:latin typeface="Calibri"/>
              </a:rPr>
              <a:t>Calidad + seguridad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solidFill>
            <a:srgbClr val="0A4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MVP funcional - Metricas - Proceso - Agentes IA - Gracias. Preguntas?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4A6B7A"/>
                </a:solidFill>
                <a:latin typeface="Calibri"/>
              </a:rPr>
              <a:t>Ashley+Jose 90s (SonarCloud) + Marian 40s + Jose 10s = 140s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4A6B7A"/>
                </a:solidFill>
                <a:latin typeface="Calibri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