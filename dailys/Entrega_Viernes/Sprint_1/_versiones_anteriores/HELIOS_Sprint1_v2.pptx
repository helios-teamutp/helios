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A4F6B"/>
                </a:solidFill>
                <a:latin typeface="Calibri"/>
              </a:rPr>
              <a:t>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A"/>
                </a:solidFill>
                <a:latin typeface="Calibri"/>
              </a:rPr>
              <a:t>Sistema unificado de citas medicas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2A36"/>
                </a:solidFill>
                <a:latin typeface="Calibri"/>
              </a:rPr>
              <a:t>Sprint 1 - Daily Scrum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A8478"/>
                </a:solidFill>
                <a:latin typeface="Calibri"/>
              </a:rPr>
              <a:t>Confirmacion de cita medica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36"/>
                </a:solidFill>
                <a:latin typeface="Calibri"/>
              </a:rPr>
              <a:t>Grupo HELIOS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Jose Brown (PO) - Ethan Gonzalez (Frontend) - Alejandro Saenz (Tech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Ashley Martinez (QA) - Marian Barba (Scrum Master / DevOps)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UTP - Calidad de Software - 2026 - 3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292608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DAILY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Respuesta a las 3 preguntas obligatorias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703320" cy="4114800"/>
          </a:xfrm>
          <a:prstGeom prst="rect">
            <a:avLst/>
          </a:prstGeom>
          <a:solidFill>
            <a:srgbClr val="F4F7F8"/>
          </a:solidFill>
          <a:ln w="254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703320" cy="73152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8478"/>
                </a:solidFill>
                <a:latin typeface="Calibri"/>
              </a:rPr>
              <a:t>Que hicimos esta sprint?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- 5 historias de usuario (US-01 a US-05) al 100%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Dashboard medico desplegado en produccion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Seguridad multicapa con RLS por rol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- 65 tests automatizados PASS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- 20 bugs detectados y resueltos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828800"/>
            <a:ext cx="3703320" cy="4114800"/>
          </a:xfrm>
          <a:prstGeom prst="rect">
            <a:avLst/>
          </a:prstGeom>
          <a:solidFill>
            <a:srgbClr val="F4F7F8"/>
          </a:solidFill>
          <a:ln w="2540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828800"/>
            <a:ext cx="3703320" cy="73152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A89B"/>
                </a:solidFill>
                <a:latin typeface="Calibri"/>
              </a:rPr>
              <a:t>Que haremos en Sprint 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Cancelar cita (paciente autoservicio)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Reprogramar cita a otro horario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Tabla citas_historial para auditoria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Tests E2E con Playwright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Locust a 300 usuarios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703320" cy="4114800"/>
          </a:xfrm>
          <a:prstGeom prst="rect">
            <a:avLst/>
          </a:prstGeom>
          <a:solidFill>
            <a:srgbClr val="F4F7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703320" cy="73152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A8A04"/>
                </a:solidFill>
                <a:latin typeface="Calibri"/>
              </a:rPr>
              <a:t>Que bloqueos tuvimos?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06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Bug B-20 race React (4 iteraciones)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Detectado en uso real por PO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Spinner &gt;10s tras F5 (B-15+B-17)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Cero pendientes al cierre del sprint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- Resueltos con Plan Mode +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Marian (Scrum Master) - 25s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292608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Escanea el QR y pruebalo en tu celular</a:t>
            </a:r>
          </a:p>
        </p:txBody>
      </p:sp>
      <p:pic>
        <p:nvPicPr>
          <p:cNvPr id="5" name="Picture 4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A6B7A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1828800"/>
            <a:ext cx="411480" cy="41148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8745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Registrate con un correo nuevo (ej: prueba@gmail.com)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377440"/>
            <a:ext cx="411480" cy="41148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4231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Elige especialidad y sede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2926080"/>
            <a:ext cx="411480" cy="41148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Selecciona medico de la lista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3474720"/>
            <a:ext cx="411480" cy="41148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5204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Elige horario en el calendario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0" y="4023360"/>
            <a:ext cx="411480" cy="41148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0690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Confirma con tu cedula panamena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0" y="4572000"/>
            <a:ext cx="411480" cy="41148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6177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Recibe tu codigo de cita unico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 (QA) - 35s - Demo en vivo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292608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 HIZO CADA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Aporte individual de cada integrante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221992" cy="4114800"/>
          </a:xfrm>
          <a:prstGeom prst="rect">
            <a:avLst/>
          </a:prstGeom>
          <a:solidFill>
            <a:srgbClr val="F4F7F8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221992" cy="82296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Jose Brown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Product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947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Validacion de cada deploy real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Deteccion 8 bugs criticos en uso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Lidero las 4 iteraciones del B-20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Priorizo backlog del sprint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828800"/>
            <a:ext cx="2221992" cy="4114800"/>
          </a:xfrm>
          <a:prstGeom prst="rect">
            <a:avLst/>
          </a:prstGeom>
          <a:solidFill>
            <a:srgbClr val="F4F7F8"/>
          </a:solidFill>
          <a:ln w="19050">
            <a:solidFill>
              <a:srgbClr val="0A4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2" y="1828800"/>
            <a:ext cx="2221992" cy="82296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192024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Marian Barba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24028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Scrum Master /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788920"/>
            <a:ext cx="1947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Setup inicial del proyecto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Deploys CI/CD a Railway (26 commits)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Configuracion 5 agentes IA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Coordinacion ceremonias Scrum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828800"/>
            <a:ext cx="2221992" cy="4114800"/>
          </a:xfrm>
          <a:prstGeom prst="rect">
            <a:avLst/>
          </a:prstGeom>
          <a:solidFill>
            <a:srgbClr val="F4F7F8"/>
          </a:solidFill>
          <a:ln w="1905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1828800"/>
            <a:ext cx="2221992" cy="82296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92024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Ethan Gonzalez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24028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Dev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788920"/>
            <a:ext cx="1947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Componentes React + TypeScript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Fix B-05 (toolbar) y B-08 (hooks)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Vista mobile del calendario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Integracion con Supabase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06056" y="1828800"/>
            <a:ext cx="2221992" cy="4114800"/>
          </a:xfrm>
          <a:prstGeom prst="rect">
            <a:avLst/>
          </a:prstGeom>
          <a:solidFill>
            <a:srgbClr val="F4F7F8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6056" y="1828800"/>
            <a:ext cx="2221992" cy="8229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192024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Alejandro Saenz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224028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Tech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788920"/>
            <a:ext cx="1947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Arquitectura Supabase + RLS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Funcion SQL crear_cita_atomica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Fix B-09 (seguridad sessionStorage)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Decisiones tecnicas del sprint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19488" y="1828800"/>
            <a:ext cx="2221992" cy="4114800"/>
          </a:xfrm>
          <a:prstGeom prst="rect">
            <a:avLst/>
          </a:prstGeom>
          <a:solidFill>
            <a:srgbClr val="F4F7F8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19488" y="1828800"/>
            <a:ext cx="2221992" cy="82296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192024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Ashley Martinez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2240280"/>
            <a:ext cx="2039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QA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2788920"/>
            <a:ext cx="1947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Pruebas funcionales del wizard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Documentacion de metricas (6 commits)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Casos de prueba para el demo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A36"/>
                </a:solidFill>
                <a:latin typeface="Calibri"/>
              </a:rPr>
              <a:t>- Calculo tasa defectos 8.70 bugs/KLOC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- 25s - Quien hizo 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292608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FLUJO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Como navega un paciente / medico por el sistema</a:t>
            </a:r>
          </a:p>
        </p:txBody>
      </p:sp>
      <p:pic>
        <p:nvPicPr>
          <p:cNvPr id="5" name="Picture 4" descr="diagrama_flujo_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37360"/>
            <a:ext cx="196015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Rutas principales: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Paciente nuevo: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Registro -&gt; Login -&gt; Agendar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Paciente existe: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Login -&gt; Agendar / Mis Citas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Medico: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Login -&gt; Dashboard agenda hoy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Race React fix: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INSERT en useAuth listener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- 25s - Mostrar diagrama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292608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METRICAS ISTQB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Lo que medimos segun el estandar internacional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A8478"/>
                </a:solidFill>
                <a:latin typeface="Calibri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Tests automatizados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  <a:latin typeface="Calibri"/>
              </a:rPr>
              <a:t>Vitest + RTL. Todos pasan.</a:t>
            </a:r>
          </a:p>
          <a:p>
            <a:r>
              <a:rPr sz="1100">
                <a:solidFill>
                  <a:srgbClr val="4A6B7A"/>
                </a:solidFill>
                <a:latin typeface="Calibri"/>
              </a:rPr>
              <a:t>Threshold 60% activo en CI.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737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FA89B"/>
                </a:solidFill>
                <a:latin typeface="Calibri"/>
              </a:rPr>
              <a:t>61.4%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Cobertura de codigo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  <a:latin typeface="Calibri"/>
              </a:rPr>
              <a:t>Statements 61.4% - Functions 90.9%.</a:t>
            </a:r>
          </a:p>
          <a:p>
            <a:r>
              <a:rPr sz="1100">
                <a:solidFill>
                  <a:srgbClr val="4A6B7A"/>
                </a:solidFill>
                <a:latin typeface="Calibri"/>
              </a:rPr>
              <a:t>Build falla si baja de 60%.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3DDC97"/>
                </a:solidFill>
                <a:latin typeface="Calibri"/>
              </a:rPr>
              <a:t>300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Latencia P95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  <a:latin typeface="Calibri"/>
              </a:rPr>
              <a:t>Locust con 200 usuarios concurrentes.</a:t>
            </a:r>
          </a:p>
          <a:p>
            <a:r>
              <a:rPr sz="1100">
                <a:solidFill>
                  <a:srgbClr val="4A6B7A"/>
                </a:solidFill>
                <a:latin typeface="Calibri"/>
              </a:rPr>
              <a:t>Meta era 2s. Lo superamos 6.6x.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023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206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CA8A04"/>
                </a:solidFill>
                <a:latin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Defectos resueltos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  <a:latin typeface="Calibri"/>
              </a:rPr>
              <a:t>Tasa 8.70 bugs/KLOC (rango profesional).</a:t>
            </a:r>
          </a:p>
          <a:p>
            <a:r>
              <a:rPr sz="1100">
                <a:solidFill>
                  <a:srgbClr val="4A6B7A"/>
                </a:solidFill>
                <a:latin typeface="Calibri"/>
              </a:rPr>
              <a:t>Cero pendientes al cierre.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- 25s - Solo ISTQB (recomendacion profesora)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29260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SONARCLOUD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Analisis de calidad y seguridad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4F6B"/>
                </a:solidFill>
                <a:latin typeface="Calibri"/>
              </a:rPr>
              <a:t>Vamos a abrir SonarCloud y mostrar: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6032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Bugs detectados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68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Issues que SonarCloud encontro automaticamente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Code smells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718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Patrones que podrian causar problemas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Vulnerabilidades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747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Problemas de seguridad detectados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6908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77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% de codigo cubierto por nuestros tests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7200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Duplication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4805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Codigo duplicado que se debe refactorizar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7492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Quality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9834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Pasa o falla el threshold de calidad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0F2A36"/>
          </a:solidFill>
          <a:ln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SonarCloud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3DDC97"/>
                </a:solidFill>
                <a:latin typeface="Calibri"/>
              </a:rPr>
              <a:t>sonarcloud.io/project/overview?id=MarianC-programing_Helios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566160"/>
            <a:ext cx="4389120" cy="228600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576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2062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Abriremos el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6634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y revisaremos los hallazgos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2120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DDC97"/>
                </a:solidFill>
                <a:latin typeface="Calibri"/>
              </a:rPr>
              <a:t>(escanea cada push automatico)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 + Jose - 35s - SonarCloud en vivo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292608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Herramientas + Kanban +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4F6B"/>
                </a:solidFill>
                <a:latin typeface="Calibri"/>
              </a:rPr>
              <a:t>7 herramientas usadas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Repositorio + 80+ commits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6148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Jira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7614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Tablero Kanban 21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Vitest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45536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65 tests automatizados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Locust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52958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P95 300ms con 200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913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BD + Auth +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Railway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2976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Deploy CI automatico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817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SonarCloud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81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Calidad + seguridad (NUEVO)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4F6B"/>
                </a:solidFill>
                <a:latin typeface="Calibri"/>
              </a:rPr>
              <a:t>Tablero Kanban Jira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377440"/>
            <a:ext cx="1691640" cy="2743200"/>
          </a:xfrm>
          <a:prstGeom prst="rect">
            <a:avLst/>
          </a:prstGeom>
          <a:solidFill>
            <a:srgbClr val="F4F7F8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377440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45059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17520"/>
            <a:ext cx="1508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20 bugs + 5 US Sprint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377440"/>
            <a:ext cx="1691640" cy="2743200"/>
          </a:xfrm>
          <a:prstGeom prst="rect">
            <a:avLst/>
          </a:prstGeom>
          <a:solidFill>
            <a:srgbClr val="F4F7F8"/>
          </a:solidFill>
          <a:ln w="254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2377440"/>
            <a:ext cx="169164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45059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017520"/>
            <a:ext cx="1508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Cancelar / reprogramar cita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0" y="2377440"/>
            <a:ext cx="1691640" cy="2743200"/>
          </a:xfrm>
          <a:prstGeom prst="rect">
            <a:avLst/>
          </a:prstGeom>
          <a:solidFill>
            <a:srgbClr val="F4F7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2377440"/>
            <a:ext cx="1691640" cy="4572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245059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017520"/>
            <a:ext cx="1508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Sprint 2: HELL-3 (9 subtareas)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86400"/>
            <a:ext cx="11430000" cy="82296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11430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MVP funcional - Metricas medidas - Proceso documentado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DC97"/>
                </a:solidFill>
                <a:latin typeface="Calibri"/>
              </a:rPr>
              <a:t>Gracias. Preguntas?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- 10s - Cierre + preguntas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