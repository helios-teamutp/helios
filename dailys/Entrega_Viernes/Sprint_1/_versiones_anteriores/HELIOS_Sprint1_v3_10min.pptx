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A4F6B"/>
                </a:solidFill>
                <a:latin typeface="Calibri"/>
              </a:rPr>
              <a:t>HELIOS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A"/>
                </a:solidFill>
                <a:latin typeface="Calibri"/>
              </a:rPr>
              <a:t>Sistema unificado de citas medicas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2A36"/>
                </a:solidFill>
                <a:latin typeface="Calibri"/>
              </a:rPr>
              <a:t>Sprint 1 - Confirmacion de cita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A8478"/>
                </a:solidFill>
                <a:latin typeface="Calibri"/>
              </a:rPr>
              <a:t>MVP funcional en produccion - 20 bugs resueltos - 5 agentes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36"/>
                </a:solidFill>
                <a:latin typeface="Calibri"/>
              </a:rPr>
              <a:t>Grupo HELIOS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A"/>
                </a:solidFill>
                <a:latin typeface="Calibri"/>
              </a:rPr>
              <a:t>Jose Brown (PO) - Ethan Gonzalez (Frontend) - Alejandro Saenz (Tech Lead)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A"/>
                </a:solidFill>
                <a:latin typeface="Calibri"/>
              </a:rPr>
              <a:t>Ashley Martinez (QA) - Marian Barba (Scrum Master / DevOps)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UTP - Calidad de Software - 2026 - Presentacion 10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DAILY SCRUM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Las 3 preguntas obligatorias del Daily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37360"/>
            <a:ext cx="3749039" cy="4297680"/>
          </a:xfrm>
          <a:prstGeom prst="rect">
            <a:avLst/>
          </a:prstGeom>
          <a:solidFill>
            <a:srgbClr val="F4F7F8"/>
          </a:solidFill>
          <a:ln w="2540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3749039" cy="73152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383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8478"/>
                </a:solidFill>
                <a:latin typeface="Calibri"/>
              </a:rPr>
              <a:t>Que hicimos?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33832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- 5 historias completadas (US-01 a US-05)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Dashboard medico desplegado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Seguridad RLS multicapa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- 65 tests automatizados PASS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- 20 bugs cazados y resueltos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- 5 agentes IA configurados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737360"/>
            <a:ext cx="3749039" cy="4297680"/>
          </a:xfrm>
          <a:prstGeom prst="rect">
            <a:avLst/>
          </a:prstGeom>
          <a:solidFill>
            <a:srgbClr val="F4F7F8"/>
          </a:solidFill>
          <a:ln w="25400">
            <a:solidFill>
              <a:srgbClr val="1FA8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737360"/>
            <a:ext cx="3749039" cy="73152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39" y="1920240"/>
            <a:ext cx="3383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A89B"/>
                </a:solidFill>
                <a:latin typeface="Calibri"/>
              </a:rPr>
              <a:t>Que haremos en Sprint 2?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2560320"/>
            <a:ext cx="33832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Cancelar cita (autoservicio)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Reprogramar cita a otro horario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Tabla citas_historial (auditoria)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Tests E2E con Playwright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SonarCloud en CI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Locust a 300 usuarios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38" y="1737360"/>
            <a:ext cx="3749039" cy="4297680"/>
          </a:xfrm>
          <a:prstGeom prst="rect">
            <a:avLst/>
          </a:prstGeom>
          <a:solidFill>
            <a:srgbClr val="F4F7F8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38" y="1737360"/>
            <a:ext cx="3749039" cy="73152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8" y="1920240"/>
            <a:ext cx="3383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A8A04"/>
                </a:solidFill>
                <a:latin typeface="Calibri"/>
              </a:rPr>
              <a:t>Que bloqueos tuvimos?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8" y="2560320"/>
            <a:ext cx="33832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Bug B-20 race React (4 iteraciones)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Detectado en uso real por PO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Spinner &gt;10s tras F5 (B-15+B-17)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Resueltos con Plan Mode + tests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Cero pendientes al cierre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Documentados en 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Marian (Scrum Master) - 40s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Escanea el QR y pruebalo en tu celular</a:t>
            </a:r>
          </a:p>
        </p:txBody>
      </p:sp>
      <p:pic>
        <p:nvPicPr>
          <p:cNvPr id="5" name="Picture 4" descr="qr_helios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4114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26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A6B7A"/>
                </a:solidFill>
                <a:latin typeface="Calibri"/>
              </a:rPr>
              <a:t>helios-web-production.up.railway.app</a:t>
            </a:r>
          </a:p>
        </p:txBody>
      </p:sp>
      <p:sp>
        <p:nvSpPr>
          <p:cNvPr id="7" name="Oval 6"/>
          <p:cNvSpPr/>
          <p:nvPr/>
        </p:nvSpPr>
        <p:spPr>
          <a:xfrm>
            <a:off x="5303520" y="182880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0195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Registrate con un correo nuevo</a:t>
            </a:r>
          </a:p>
        </p:txBody>
      </p:sp>
      <p:sp>
        <p:nvSpPr>
          <p:cNvPr id="9" name="Oval 8"/>
          <p:cNvSpPr/>
          <p:nvPr/>
        </p:nvSpPr>
        <p:spPr>
          <a:xfrm>
            <a:off x="5303520" y="242316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9631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Elige especialidad y sede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0" y="301752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09067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Selecciona medico de la lista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0" y="361188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68503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Elige horario en el calendario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0" y="420624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27939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Confirma con tu cedula panamena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0" y="480060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87375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Recibe codigo de cita unico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Ashley (QA) - 55s - Demo en vivo desde el celular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APORTE INDIVIDUAL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Que hizo cada integrante en el Sprint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2249424" cy="4297680"/>
          </a:xfrm>
          <a:prstGeom prst="rect">
            <a:avLst/>
          </a:prstGeom>
          <a:solidFill>
            <a:srgbClr val="F4F7F8"/>
          </a:solidFill>
          <a:ln w="1905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249424" cy="9144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Jose Brown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Product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2066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22 commits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19751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Validacion de cada deploy en produccion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Detecto 8 bugs criticos en uso real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Lidero las 4 iteraciones del B-20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Configuro los 5 agentes IA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Priorizo backlog del sprint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8336" y="1737360"/>
            <a:ext cx="2249424" cy="4297680"/>
          </a:xfrm>
          <a:prstGeom prst="rect">
            <a:avLst/>
          </a:prstGeom>
          <a:solidFill>
            <a:srgbClr val="F4F7F8"/>
          </a:solidFill>
          <a:ln w="19050">
            <a:solidFill>
              <a:srgbClr val="0A4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88336" y="1737360"/>
            <a:ext cx="2249424" cy="91440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9776" y="182880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Marian Barba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776" y="214884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Scrum Master / DevOps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2395728"/>
            <a:ext cx="2066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26 commits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5496" y="2788920"/>
            <a:ext cx="19751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Setup inicial del proyecto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Deploys CI/CD a Railway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Documentacion de metricas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Coordinacion ceremonias Scrum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Gestion del Kanban en Jira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10912" y="1737360"/>
            <a:ext cx="2249424" cy="4297680"/>
          </a:xfrm>
          <a:prstGeom prst="rect">
            <a:avLst/>
          </a:prstGeom>
          <a:solidFill>
            <a:srgbClr val="F4F7F8"/>
          </a:solidFill>
          <a:ln w="19050">
            <a:solidFill>
              <a:srgbClr val="1FA8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10912" y="1737360"/>
            <a:ext cx="2249424" cy="91440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182880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Ethan Gonzalez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214884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Dev 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2395728"/>
            <a:ext cx="2066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3 commits + paircoding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2788920"/>
            <a:ext cx="19751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Componentes React + TypeScript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Fix B-05 (toolbar sticky)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Fix B-08 (try/catch 5 hooks)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Vista mobile del calendario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Integracion Supabase Auth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3488" y="1737360"/>
            <a:ext cx="2249424" cy="4297680"/>
          </a:xfrm>
          <a:prstGeom prst="rect">
            <a:avLst/>
          </a:prstGeom>
          <a:solidFill>
            <a:srgbClr val="F4F7F8"/>
          </a:solidFill>
          <a:ln w="1905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33488" y="1737360"/>
            <a:ext cx="2249424" cy="91440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8" y="182880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Alejandro Saenz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8" y="214884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Tech Lead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2395728"/>
            <a:ext cx="2066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2 commits + arquitectura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2788920"/>
            <a:ext cx="19751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Arquitectura Supabase + RLS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Funcion SQL crear_cita_atomica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Fix B-09 (seguridad sessionStorage)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- 6 tablas + 3 vinculos auth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Decisiones tecnicas del sprint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56064" y="1737360"/>
            <a:ext cx="2249424" cy="4297680"/>
          </a:xfrm>
          <a:prstGeom prst="rect">
            <a:avLst/>
          </a:prstGeom>
          <a:solidFill>
            <a:srgbClr val="F4F7F8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56064" y="1737360"/>
            <a:ext cx="2249424" cy="91440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47504" y="182880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Ashley Martinez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7504" y="214884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QA Engineer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2395728"/>
            <a:ext cx="2066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6 commits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3224" y="2788920"/>
            <a:ext cx="19751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Pruebas funcionales del wizard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Documentacion de metricas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Casos de prueba para el demo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Calculo 8.70 bugs/KLOC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0F2A36"/>
                </a:solidFill>
                <a:latin typeface="Calibri"/>
              </a:rPr>
              <a:t>- Validacion criterios aceptacion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- 50s - Aporte por persona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Lo que construimos en React + TypeScript + Vite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4F6B"/>
                </a:solidFill>
                <a:latin typeface="Calibri"/>
              </a:rPr>
              <a:t>Stack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React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3774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Componentes funcionales + 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TypeScript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8346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Tipado estricto, cero `any`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Vite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2918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Bundle 754 KB / 217 KB gzip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Tailwind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7490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Design system consistente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React Router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2062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SPA con ProtectedRoute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FullCalendar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6634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Vista calendario desktop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4F6B"/>
                </a:solidFill>
                <a:latin typeface="Calibri"/>
              </a:rPr>
              <a:t>Componentes construidos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774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SelectorEspecialidad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3774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Lista filtrable con loading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76148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ListaMedicos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6148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Cards con foto +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4553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CalendarioCitas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14553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Slots disponibles tiempo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2958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CalendarioCitasLista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52958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Vista mobile (B-18)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1363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FormularioConfirmacion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91363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Validacion cedula panamena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29768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ResumenCita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2976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Codigo unico generado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68172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MedicoDashboard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68172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Agenda hoy + historial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06577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ProtectedRoute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506577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Guard por rol (B-13)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Ethan (Frontend) - 35s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BACKEND /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Arquitectura Supabase + Row Level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4F6B"/>
                </a:solidFill>
                <a:latin typeface="Calibri"/>
              </a:rPr>
              <a:t>6 tablas + 3 vinculos 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sedes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3774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3 policlinicas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6148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especialidades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76148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5 especialidades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4553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medicos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14553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20 cuentas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958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horarios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52958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1200+ slots disponibles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1363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pacientes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9136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Datos personales + cedula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citas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2976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Tabla central + estados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817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auth_paciente_link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68172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Mapea auth.users -&gt; pacientes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6577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- auth_medico_link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06577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Mapea auth.users -&gt; medicos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A4F6B"/>
                </a:solidFill>
                <a:latin typeface="Calibri"/>
              </a:rPr>
              <a:t>Seguridad + funcion atomica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377440"/>
            <a:ext cx="5486400" cy="2011680"/>
          </a:xfrm>
          <a:prstGeom prst="rect">
            <a:avLst/>
          </a:prstGeom>
          <a:solidFill>
            <a:srgbClr val="F4F7F8"/>
          </a:solidFill>
          <a:ln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4688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4F6B"/>
                </a:solidFill>
                <a:latin typeface="Calibri"/>
              </a:rPr>
              <a:t>Row Level Security (RLS)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8346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paciente_ve_sus_citas: auth.uid = dueno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medico_ve_sus_citas: auth.uid = asignado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paciente_crea_su_link: WITH CHECK estricto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Atacante con DevTools NO puede modificar ajeno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526280"/>
            <a:ext cx="5486400" cy="1828800"/>
          </a:xfrm>
          <a:prstGeom prst="rect">
            <a:avLst/>
          </a:prstGeom>
          <a:solidFill>
            <a:srgbClr val="F4F7F8"/>
          </a:solidFill>
          <a:ln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6177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4F6B"/>
                </a:solidFill>
                <a:latin typeface="Calibri"/>
              </a:rPr>
              <a:t>Funcion SQL atomica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029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DDC97"/>
                </a:solidFill>
                <a:latin typeface="Calibri"/>
              </a:rPr>
              <a:t>crear_cita_atomica(paciente, horario)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3949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Reserva horario + crea cita en 1 transaccion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Evita race: 2 pacientes mismo slot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SECURITY DEFINER + validacion auth.uid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Tested con Locust 200 usuarios concurrentes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Alejandro (Tech Lead) - 35s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FLUJO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Como navega un paciente / medico por HELIOS</a:t>
            </a:r>
          </a:p>
        </p:txBody>
      </p:sp>
      <p:pic>
        <p:nvPicPr>
          <p:cNvPr id="5" name="Picture 4" descr="diagrama_flujo_usu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645920"/>
            <a:ext cx="2038556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Rutas principales: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F6B"/>
                </a:solidFill>
                <a:latin typeface="Calibri"/>
              </a:rPr>
              <a:t>Paciente nuevo: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Registro -&gt; Login -&gt; Agendar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F6B"/>
                </a:solidFill>
                <a:latin typeface="Calibri"/>
              </a:rPr>
              <a:t>Paciente existente: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5584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Login -&gt; Agendar / Mis Citas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F6B"/>
                </a:solidFill>
                <a:latin typeface="Calibri"/>
              </a:rPr>
              <a:t>Medico: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3308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Login -&gt; Dashboard agenda hoy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F6B"/>
                </a:solidFill>
                <a:latin typeface="Calibri"/>
              </a:rPr>
              <a:t>Race React (B-20):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1032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INSERT en onAuthStateChange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- 50s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AGENTES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5 agentes IA especializados del equipo HELIOS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A"/>
                </a:solidFill>
                <a:latin typeface="Calibri"/>
              </a:rPr>
              <a:t>Cada agente esta especializado en una responsabilidad. Coordinacion automatica.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2249424" cy="3840480"/>
          </a:xfrm>
          <a:prstGeom prst="rect">
            <a:avLst/>
          </a:prstGeom>
          <a:solidFill>
            <a:srgbClr val="F4F7F8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249424" cy="7772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Team 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2066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helios-orchestrator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197510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Coordina al equipo segun el cambio. SIEMPRE se invoca primero.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80560"/>
            <a:ext cx="19751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Cuando: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00600"/>
            <a:ext cx="197510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Decide que agentes lanzar y en que orden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8336" y="2011680"/>
            <a:ext cx="2249424" cy="3840480"/>
          </a:xfrm>
          <a:prstGeom prst="rect">
            <a:avLst/>
          </a:prstGeom>
          <a:solidFill>
            <a:srgbClr val="F4F7F8"/>
          </a:solidFill>
          <a:ln w="1905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88336" y="2011680"/>
            <a:ext cx="2249424" cy="77724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10312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Frontend Expert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6" y="2468880"/>
            <a:ext cx="2066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helios-frontend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5496" y="2926080"/>
            <a:ext cx="197510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React 19 + TS 6 + Vite + Tailwind + 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5496" y="4480560"/>
            <a:ext cx="19751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A8478"/>
                </a:solidFill>
                <a:latin typeface="Calibri"/>
              </a:rPr>
              <a:t>Cuando: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5496" y="4800600"/>
            <a:ext cx="197510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Conoce el stack exacto del proyecto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0912" y="2011680"/>
            <a:ext cx="2249424" cy="3840480"/>
          </a:xfrm>
          <a:prstGeom prst="rect">
            <a:avLst/>
          </a:prstGeom>
          <a:solidFill>
            <a:srgbClr val="F4F7F8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10912" y="2011680"/>
            <a:ext cx="2249424" cy="777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210312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Bug Hunter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2468880"/>
            <a:ext cx="2066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helios-bug-hunter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2926080"/>
            <a:ext cx="197510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Detecta loading infinitos, race conditions, promesas sin catch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4480560"/>
            <a:ext cx="19751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Calibri"/>
              </a:rPr>
              <a:t>Cuando: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72" y="4800600"/>
            <a:ext cx="197510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Invocar antes de cada deploy + en bugs reportados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3488" y="2011680"/>
            <a:ext cx="2249424" cy="3840480"/>
          </a:xfrm>
          <a:prstGeom prst="rect">
            <a:avLst/>
          </a:prstGeom>
          <a:solidFill>
            <a:srgbClr val="F4F7F8"/>
          </a:solidFill>
          <a:ln w="1905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3488" y="2011680"/>
            <a:ext cx="2249424" cy="77724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24928" y="210312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Clean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8" y="2468880"/>
            <a:ext cx="2066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helios-clean-code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2926080"/>
            <a:ext cx="197510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JSDoc, naming, complexity, codigo muerto, agrupacion imports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4480560"/>
            <a:ext cx="19751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DDC97"/>
                </a:solidFill>
                <a:latin typeface="Calibri"/>
              </a:rPr>
              <a:t>Cuando: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0648" y="4800600"/>
            <a:ext cx="197510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Invocar tras fixes grandes o antes de merge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56064" y="2011680"/>
            <a:ext cx="2249424" cy="3840480"/>
          </a:xfrm>
          <a:prstGeom prst="rect">
            <a:avLst/>
          </a:prstGeom>
          <a:solidFill>
            <a:srgbClr val="F4F7F8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56064" y="2011680"/>
            <a:ext cx="2249424" cy="77724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47504" y="210312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Test Engineer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7504" y="2468880"/>
            <a:ext cx="2066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helios-test-engineer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93224" y="2926080"/>
            <a:ext cx="197510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Vitest + RTL, cobertura &gt;=60%, tests de regresion por bug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93224" y="4480560"/>
            <a:ext cx="19751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A8A04"/>
                </a:solidFill>
                <a:latin typeface="Calibri"/>
              </a:rPr>
              <a:t>Cuando: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93224" y="4800600"/>
            <a:ext cx="197510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Invocar tras agregar feature o fix de bug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035040"/>
            <a:ext cx="11430000" cy="41148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08076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Resultado: ciclos Plan-&gt;Code-&gt;Review-&gt;Test-&gt;Deploy en &lt;30 min cada bug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- 75s - Innovacion: agentes IA especializados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METRICAS ISTQB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Lo que medimos segun el estandar internacional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949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0A8478"/>
                </a:solidFill>
                <a:latin typeface="Calibri"/>
              </a:rPr>
              <a:t>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011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A36"/>
                </a:solidFill>
                <a:latin typeface="Calibri"/>
              </a:rPr>
              <a:t>Tests automatizados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6B7A"/>
                </a:solidFill>
              </a:rPr>
              <a:t>Vitest + RTL. Todos pasan.</a:t>
            </a:r>
          </a:p>
          <a:p>
            <a:r>
              <a:rPr sz="1100">
                <a:solidFill>
                  <a:srgbClr val="4A6B7A"/>
                </a:solidFill>
              </a:rPr>
              <a:t>Threshold 60% activo en CI.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737360"/>
            <a:ext cx="53949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A8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1FA89B"/>
                </a:solidFill>
                <a:latin typeface="Calibri"/>
              </a:rPr>
              <a:t>61.4%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A36"/>
                </a:solidFill>
                <a:latin typeface="Calibri"/>
              </a:rPr>
              <a:t>Cobertura de codigo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60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6B7A"/>
                </a:solidFill>
              </a:rPr>
              <a:t>Statements 61.4% - Functions 90.9%.</a:t>
            </a:r>
          </a:p>
          <a:p>
            <a:r>
              <a:rPr sz="1100">
                <a:solidFill>
                  <a:srgbClr val="4A6B7A"/>
                </a:solidFill>
              </a:rPr>
              <a:t>Build falla si baja de 60%.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53949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3DDC97"/>
                </a:solidFill>
                <a:latin typeface="Calibri"/>
              </a:rPr>
              <a:t>300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297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A36"/>
                </a:solidFill>
                <a:latin typeface="Calibri"/>
              </a:rPr>
              <a:t>Latencia P95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6B7A"/>
                </a:solidFill>
              </a:rPr>
              <a:t>Locust 200 usuarios concurrentes.</a:t>
            </a:r>
          </a:p>
          <a:p>
            <a:r>
              <a:rPr sz="1100">
                <a:solidFill>
                  <a:srgbClr val="4A6B7A"/>
                </a:solidFill>
              </a:rPr>
              <a:t>Meta era 2s. Lo superamos 6.6x.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023360"/>
            <a:ext cx="53949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20624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CA8A04"/>
                </a:solidFill>
                <a:latin typeface="Calibri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2976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A36"/>
                </a:solidFill>
                <a:latin typeface="Calibri"/>
              </a:rPr>
              <a:t>Defectos resueltos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8463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6B7A"/>
                </a:solidFill>
              </a:rPr>
              <a:t>Tasa 8.70 bugs/KLOC (rango profesional).</a:t>
            </a:r>
          </a:p>
          <a:p>
            <a:r>
              <a:rPr sz="1100">
                <a:solidFill>
                  <a:srgbClr val="4A6B7A"/>
                </a:solidFill>
              </a:rPr>
              <a:t>Cero pendientes al cierre.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- 50s - Solo ISTQB (recomendacion profesora)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BUGS DETECTADOS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20 bugs cazados y resueltos en uso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Cada bug tiene ID, causa raiz, fix aplicado y test de regresion. Trazables en GitHub.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4F6B"/>
                </a:solidFill>
                <a:latin typeface="Calibri"/>
              </a:rPr>
              <a:t>Distribucion por severidad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914400" cy="36576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Critica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7 bugs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B-06, B-07, B-11, B-14, B-19, B-20.x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40"/>
            <a:ext cx="914400" cy="365760"/>
          </a:xfrm>
          <a:prstGeom prst="round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8036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8 bugs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88036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B-04, B-08, B-10, B-12, B-13, B-15, B-17, B-18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37560"/>
            <a:ext cx="914400" cy="365760"/>
          </a:xfrm>
          <a:prstGeom prst="round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3832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4 bugs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3832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B-01, B-05, B-09, B-16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91440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Baja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862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F2A36"/>
                </a:solidFill>
                <a:latin typeface="Calibri"/>
              </a:rPr>
              <a:t>1 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8862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B-03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4F6B"/>
                </a:solidFill>
                <a:latin typeface="Calibri"/>
              </a:rPr>
              <a:t>Quien detecto los bugs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PO en uso real: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892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8478"/>
                </a:solidFill>
                <a:latin typeface="Calibri"/>
              </a:rPr>
              <a:t>15 bugs (75%)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Code review: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2578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8478"/>
                </a:solidFill>
                <a:latin typeface="Calibri"/>
              </a:rPr>
              <a:t>3 bugs (15%)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235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Tests automaticos: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6235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8478"/>
                </a:solidFill>
                <a:latin typeface="Calibri"/>
              </a:rPr>
              <a:t>2 bugs (10%)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920240"/>
            <a:ext cx="5486400" cy="4297680"/>
          </a:xfrm>
          <a:prstGeom prst="rect">
            <a:avLst/>
          </a:prstGeom>
          <a:solidFill>
            <a:srgbClr val="F4F7F8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40" y="2011680"/>
            <a:ext cx="1463040" cy="3200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CASO DESTACADO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42316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A36"/>
                </a:solidFill>
                <a:latin typeface="Calibri"/>
              </a:rPr>
              <a:t>B-20: race React closure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8803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4 iteraciones hasta el fix definitivo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38328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B-20: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3832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Separar registro de login (signUp + sessionStorage)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8862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B-20.1: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8862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signOut tras signUp evita auto-login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3891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B-20.2: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3891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Polling JWT + errores visibles en pantalla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89204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B-20.3: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8920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FIX DEFINITIVO: mover INSERT a useAuth listener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5321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F6B"/>
                </a:solidFill>
                <a:latin typeface="Calibri"/>
              </a:rPr>
              <a:t>La pista del PO fue clave: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8521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"si cierro sesion y vuelvo a entrar, funciona"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Marian (Scrum Master) - 100s - Bugs detectados y caso B-20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SONARCLOUD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Analisis de calidad y seguridad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4F6B"/>
                </a:solidFill>
                <a:latin typeface="Calibri"/>
              </a:rPr>
              <a:t>Vamos a abrir SonarCloud y mostrar: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560320"/>
            <a:ext cx="137160" cy="13716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36"/>
                </a:solidFill>
                <a:latin typeface="Calibri"/>
              </a:rPr>
              <a:t>Bugs detectados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4688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Issues encontrados automaticamente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63240"/>
            <a:ext cx="137160" cy="13716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36"/>
                </a:solidFill>
                <a:latin typeface="Calibri"/>
              </a:rPr>
              <a:t>Code smells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97180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Patrones que pueden causar problemas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66160"/>
            <a:ext cx="137160" cy="13716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36"/>
                </a:solidFill>
                <a:latin typeface="Calibri"/>
              </a:rPr>
              <a:t>Vulnerabilidades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4747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Problemas de seguridad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69080"/>
            <a:ext cx="137160" cy="13716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36"/>
                </a:solidFill>
                <a:latin typeface="Calibri"/>
              </a:rPr>
              <a:t>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97764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Codigo cubierto por nuestros tests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572000"/>
            <a:ext cx="137160" cy="13716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36"/>
                </a:solidFill>
                <a:latin typeface="Calibri"/>
              </a:rPr>
              <a:t>Duplication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48056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Codigo duplicado que refactorizar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074920"/>
            <a:ext cx="137160" cy="13716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2A36"/>
                </a:solidFill>
                <a:latin typeface="Calibri"/>
              </a:rPr>
              <a:t>Quality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98348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Pasa o falla threshold de calidad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solidFill>
            <a:srgbClr val="0F2A36"/>
          </a:solidFill>
          <a:ln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28600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SonarCloud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260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3DDC97"/>
                </a:solidFill>
                <a:latin typeface="Calibri"/>
              </a:rPr>
              <a:t>sonarcloud.io/project/overview?id=MarianC-programing_Helios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566160"/>
            <a:ext cx="4389120" cy="228600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6576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DEMO EN VIVO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2062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Abriremos el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6634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y revisaremos los hallazgos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2120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DDC97"/>
                </a:solidFill>
                <a:latin typeface="Calibri"/>
              </a:rPr>
              <a:t>(escanea cada push automatico)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Ashley + Jose - 80s - SonarCloud en vivo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KANBAN +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Estado del Sprint 1 + roadmap Sprint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4F6B"/>
                </a:solidFill>
                <a:latin typeface="Calibri"/>
              </a:rPr>
              <a:t>7 herramientas usadas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Repositorio + commits firmados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6148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Jira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7614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Tablero Kanban 21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45536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Vitest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145536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65 tests automatizados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9584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Locust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529584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P95 300ms con 200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1363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9136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BD + Auth +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Railway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2976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Deploy CI automatico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817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- SonarCloud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81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Calidad + seguridad (NUEVO)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4F6B"/>
                </a:solidFill>
                <a:latin typeface="Calibri"/>
              </a:rPr>
              <a:t>Tablero Kanban Jira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377440"/>
            <a:ext cx="1691640" cy="2743200"/>
          </a:xfrm>
          <a:prstGeom prst="rect">
            <a:avLst/>
          </a:prstGeom>
          <a:solidFill>
            <a:srgbClr val="F4F7F8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377440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45059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17520"/>
            <a:ext cx="1508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F2A36"/>
                </a:solidFill>
                <a:latin typeface="Calibri"/>
              </a:rPr>
              <a:t>20 bugs + 5 US Sprint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2377440"/>
            <a:ext cx="1691640" cy="2743200"/>
          </a:xfrm>
          <a:prstGeom prst="rect">
            <a:avLst/>
          </a:prstGeom>
          <a:solidFill>
            <a:srgbClr val="F4F7F8"/>
          </a:solidFill>
          <a:ln w="2540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2377440"/>
            <a:ext cx="1691640" cy="4572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245059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017520"/>
            <a:ext cx="1508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F2A36"/>
                </a:solidFill>
                <a:latin typeface="Calibri"/>
              </a:rPr>
              <a:t>Cancelar / reprogramar cita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60" y="2377440"/>
            <a:ext cx="1691640" cy="2743200"/>
          </a:xfrm>
          <a:prstGeom prst="rect">
            <a:avLst/>
          </a:prstGeom>
          <a:solidFill>
            <a:srgbClr val="F4F7F8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66960" y="2377440"/>
            <a:ext cx="1691640" cy="45720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60" y="2450592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 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017520"/>
            <a:ext cx="1508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F2A36"/>
                </a:solidFill>
                <a:latin typeface="Calibri"/>
              </a:rPr>
              <a:t>Sprint 2: HELL-3 (9 subtareas)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86400"/>
            <a:ext cx="11430000" cy="82296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532120"/>
            <a:ext cx="11430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MVP funcional - Metricas medidas - Proceso documentado - Agentes 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4360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DDC97"/>
                </a:solidFill>
                <a:latin typeface="Calibri"/>
              </a:rPr>
              <a:t>Gracias. Preguntas?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Marian 20s (Kanban) + Jose 10s (cierre)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