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34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elio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731520"/>
            <a:ext cx="632348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74519" y="77724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34B56"/>
                </a:solidFill>
                <a:latin typeface="Calibri"/>
              </a:rPr>
              <a:t>HELIOS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92807" y="14173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4A6B7A"/>
                </a:solidFill>
                <a:latin typeface="Calibri"/>
              </a:rPr>
              <a:t>Citas médicas unificadas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0F2A36"/>
                </a:solidFill>
                <a:latin typeface="Calibri"/>
              </a:rPr>
              <a:t>Presentación Final del Producto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200400"/>
            <a:ext cx="1042416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F34B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364992"/>
            <a:ext cx="100584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0F2A36"/>
                </a:solidFill>
                <a:latin typeface="Calibri"/>
              </a:rPr>
              <a:t>En Panamá, agendar una cita médica todavía significa llamar, esperar o hacer fila. HELIOS lo resuelve: agendar, cancelar, reprogramar y recibir aviso — en menos de 2 minutos, desde el celular.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0A4F6B"/>
                </a:solidFill>
                <a:latin typeface="Calibri"/>
              </a:rPr>
              <a:t>Hoy no solo les contamos cómo lo construimos: se los mostramos funcionando, y qué dijo un médico real que lo probó.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150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F2A36"/>
                </a:solidFill>
                <a:latin typeface="Calibri"/>
              </a:rPr>
              <a:t>Grupo HELIOS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0350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4A6B7A"/>
                </a:solidFill>
                <a:latin typeface="Calibri"/>
              </a:rPr>
              <a:t>Jose Brown · Ethan Gonzalez · Alejandro Saenz · Ashley Martinez · Marian Barba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355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4A6B7A"/>
                </a:solidFill>
                <a:latin typeface="Calibri"/>
              </a:rPr>
              <a:t>UTP · Calidad de Software ·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4A6B7A"/>
                </a:solidFill>
                <a:latin typeface="Calibri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554480" cy="347472"/>
          </a:xfrm>
          <a:prstGeom prst="roundRect">
            <a:avLst/>
          </a:prstGeom>
          <a:solidFill>
            <a:srgbClr val="F34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DEMO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F2A36"/>
                </a:solidFill>
                <a:latin typeface="Calibri"/>
              </a:rPr>
              <a:t>Primero, véanlo funcionar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8132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4A6B7A"/>
                </a:solidFill>
                <a:latin typeface="Calibri"/>
              </a:rPr>
              <a:t>Sin truco: no recargamos la página ni revisamos nada a mano</a:t>
            </a:r>
          </a:p>
        </p:txBody>
      </p:sp>
      <p:pic>
        <p:nvPicPr>
          <p:cNvPr id="6" name="Picture 5" descr="qr_helios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3383280" cy="3383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486400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4A6B7A"/>
                </a:solidFill>
                <a:latin typeface="Calibri"/>
              </a:rPr>
              <a:t>Escanéalo y pruébalo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2011680"/>
            <a:ext cx="7223760" cy="731520"/>
          </a:xfrm>
          <a:prstGeom prst="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103120"/>
            <a:ext cx="7223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helios-web-production.up.railway.app</a:t>
            </a:r>
          </a:p>
        </p:txBody>
      </p:sp>
      <p:sp>
        <p:nvSpPr>
          <p:cNvPr id="10" name="Oval 9"/>
          <p:cNvSpPr/>
          <p:nvPr/>
        </p:nvSpPr>
        <p:spPr>
          <a:xfrm>
            <a:off x="4480560" y="3063240"/>
            <a:ext cx="457200" cy="45720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3090672"/>
            <a:ext cx="6583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0F2A36"/>
                </a:solidFill>
                <a:latin typeface="Calibri"/>
              </a:rPr>
              <a:t>Registrar paciente con su correo</a:t>
            </a:r>
          </a:p>
        </p:txBody>
      </p:sp>
      <p:sp>
        <p:nvSpPr>
          <p:cNvPr id="12" name="Oval 11"/>
          <p:cNvSpPr/>
          <p:nvPr/>
        </p:nvSpPr>
        <p:spPr>
          <a:xfrm>
            <a:off x="4480560" y="3813048"/>
            <a:ext cx="457200" cy="45720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840480"/>
            <a:ext cx="6583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0F2A36"/>
                </a:solidFill>
                <a:latin typeface="Calibri"/>
              </a:rPr>
              <a:t>Agendar una cita en segundos</a:t>
            </a:r>
          </a:p>
        </p:txBody>
      </p:sp>
      <p:sp>
        <p:nvSpPr>
          <p:cNvPr id="14" name="Oval 13"/>
          <p:cNvSpPr/>
          <p:nvPr/>
        </p:nvSpPr>
        <p:spPr>
          <a:xfrm>
            <a:off x="4480560" y="4562856"/>
            <a:ext cx="457200" cy="45720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4590288"/>
            <a:ext cx="6583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0F2A36"/>
                </a:solidFill>
                <a:latin typeface="Calibri"/>
              </a:rPr>
              <a:t>Llega solo: campanita en la web + correo</a:t>
            </a:r>
          </a:p>
        </p:txBody>
      </p:sp>
      <p:sp>
        <p:nvSpPr>
          <p:cNvPr id="16" name="Oval 15"/>
          <p:cNvSpPr/>
          <p:nvPr/>
        </p:nvSpPr>
        <p:spPr>
          <a:xfrm>
            <a:off x="4480560" y="5312664"/>
            <a:ext cx="457200" cy="45720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5340096"/>
            <a:ext cx="6583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0F2A36"/>
                </a:solidFill>
                <a:latin typeface="Calibri"/>
              </a:rPr>
              <a:t>Bonus: al llenar un médico, el día sale 'Día completo'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4A6B7A"/>
                </a:solidFill>
                <a:latin typeface="Calibri"/>
              </a:rPr>
              <a:t>Ethan (Frontend) — 60s — Demo en vivo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4A6B7A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828800" cy="347472"/>
          </a:xfrm>
          <a:prstGeom prst="round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VALIDACIÓN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F2A36"/>
                </a:solidFill>
                <a:latin typeface="Calibri"/>
              </a:rPr>
              <a:t>Un médico real lo probó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8132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4A6B7A"/>
                </a:solidFill>
                <a:latin typeface="Calibri"/>
              </a:rPr>
              <a:t>Lo que valida un producto de salud no es el equipo — es alguien externo con criterio clínico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11155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>
                <a:solidFill>
                  <a:srgbClr val="0F2A36"/>
                </a:solidFill>
                <a:latin typeface="Calibri"/>
              </a:rPr>
              <a:t>•  Lo llevamos a un médico de salud pública (policlínica) — el contexto real para el que lo diseñamos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0F2A36"/>
                </a:solidFill>
                <a:latin typeface="Calibri"/>
              </a:rPr>
              <a:t>•  Prueba guiada, sin pacientes ni consultas reales de por medio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0F2A36"/>
                </a:solidFill>
                <a:latin typeface="Calibri"/>
              </a:rPr>
              <a:t>•  Su reacción: le pareció increíble, y destacó el diseño visual y los colores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0F2A36"/>
                </a:solidFill>
                <a:latin typeface="Calibri"/>
              </a:rPr>
              <a:t>•  En salud eso importa: un sistema confuso genera desconfianza antes de usar una sola función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709160"/>
            <a:ext cx="11247120" cy="1371600"/>
          </a:xfrm>
          <a:prstGeom prst="rect">
            <a:avLst/>
          </a:prstGeom>
          <a:solidFill>
            <a:srgbClr val="F4F7F8"/>
          </a:solidFill>
          <a:ln w="19050">
            <a:solidFill>
              <a:srgbClr val="0A8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8463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2A36"/>
                </a:solidFill>
                <a:latin typeface="Calibri"/>
              </a:rPr>
              <a:t>Lo más valioso no fue el elogio — fue su recomendación: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230368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1">
                <a:solidFill>
                  <a:srgbClr val="0A4F6B"/>
                </a:solidFill>
                <a:latin typeface="Calibri"/>
              </a:rPr>
              <a:t>“Establezcan un máximo de 15 pacientes por día por médico.”  Esa cifra no salió de nosotros: salió de alguien que gestiona consultas reales todos los días.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4A6B7A"/>
                </a:solidFill>
                <a:latin typeface="Calibri"/>
              </a:rPr>
              <a:t>Jose (PO) — 60s — Validación 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4A6B7A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2926080" cy="347472"/>
          </a:xfrm>
          <a:prstGeom prst="roundRect">
            <a:avLst/>
          </a:prstGeom>
          <a:solidFill>
            <a:srgbClr val="F34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DE LA RECOMENDACIÓN → PRODUCCIÓN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F2A36"/>
                </a:solidFill>
                <a:latin typeface="Calibri"/>
              </a:rPr>
              <a:t>No lo dejamos en el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8132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4A6B7A"/>
                </a:solidFill>
                <a:latin typeface="Calibri"/>
              </a:rPr>
              <a:t>La recomendación del médico se volvió una función real en el mismo ciclo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57400"/>
            <a:ext cx="11247120" cy="1051560"/>
          </a:xfrm>
          <a:prstGeom prst="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76272"/>
            <a:ext cx="10881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El límite de 15 citas/día por médico que recomendó → lo implementamos, lo verificamos y YA está en producción.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375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F2A36"/>
                </a:solidFill>
                <a:latin typeface="Calibri"/>
              </a:rPr>
              <a:t>Cómo lo blindamos (3 capas):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>
                <a:solidFill>
                  <a:srgbClr val="0F2A36"/>
                </a:solidFill>
                <a:latin typeface="Calibri"/>
              </a:rPr>
              <a:t>•  Base de datos: rechaza la cita que exceda el tope, con candado de concurrencia (dos pacientes no lo saltan)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0F2A36"/>
                </a:solidFill>
                <a:latin typeface="Calibri"/>
              </a:rPr>
              <a:t>•  Reprogramar respeta el tope del día destino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0F2A36"/>
                </a:solidFill>
                <a:latin typeface="Calibri"/>
              </a:rPr>
              <a:t>•  La interfaz muestra los días llenos como 'Día completo'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0F2A36"/>
                </a:solidFill>
                <a:latin typeface="Calibri"/>
              </a:rPr>
              <a:t>•  Verificado con una revisión adversarial de 5 lentes antes de desplegar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486400"/>
            <a:ext cx="11247120" cy="685800"/>
          </a:xfrm>
          <a:prstGeom prst="rect">
            <a:avLst/>
          </a:prstGeom>
          <a:solidFill>
            <a:srgbClr val="F4F7F8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0F2A36"/>
                </a:solidFill>
                <a:latin typeface="Calibri"/>
              </a:rPr>
              <a:t>Y hoy, no en el roadmap: las notificaciones (campanita + correo) corren solas — nadie las reinicia ni las tiene en su laptop.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4A6B7A"/>
                </a:solidFill>
                <a:latin typeface="Calibri"/>
              </a:rPr>
              <a:t>Alejandro (Tech Lead) — 45s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4A6B7A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2377440" cy="347472"/>
          </a:xfrm>
          <a:prstGeom prst="round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CALIDAD 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F2A36"/>
                </a:solidFill>
                <a:latin typeface="Calibri"/>
              </a:rPr>
              <a:t>No es solo una demo bien montada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8132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4A6B7A"/>
                </a:solidFill>
                <a:latin typeface="Calibri"/>
              </a:rPr>
              <a:t>La misma disciplina con la que lo estamos presentando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48840"/>
            <a:ext cx="5486400" cy="1188720"/>
          </a:xfrm>
          <a:prstGeom prst="rect">
            <a:avLst/>
          </a:prstGeom>
          <a:solidFill>
            <a:srgbClr val="FFFFFF"/>
          </a:solidFill>
          <a:ln w="17780">
            <a:solidFill>
              <a:srgbClr val="0A8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21031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 i="0">
                <a:solidFill>
                  <a:srgbClr val="0A8478"/>
                </a:solidFill>
                <a:latin typeface="Calibri"/>
              </a:rPr>
              <a:t>141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240280"/>
            <a:ext cx="30175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0F2A36"/>
                </a:solidFill>
                <a:latin typeface="Calibri"/>
              </a:rPr>
              <a:t>pruebas automáticas en cada cambio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2148840"/>
            <a:ext cx="5486400" cy="1188720"/>
          </a:xfrm>
          <a:prstGeom prst="rect">
            <a:avLst/>
          </a:prstGeom>
          <a:solidFill>
            <a:srgbClr val="FFFFFF"/>
          </a:solidFill>
          <a:ln w="17780">
            <a:solidFill>
              <a:srgbClr val="0A8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40280"/>
            <a:ext cx="21031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 i="0">
                <a:solidFill>
                  <a:srgbClr val="0A8478"/>
                </a:solidFill>
                <a:latin typeface="Calibri"/>
              </a:rPr>
              <a:t>&gt;60%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240280"/>
            <a:ext cx="30175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0F2A36"/>
                </a:solidFill>
                <a:latin typeface="Calibri"/>
              </a:rPr>
              <a:t>cobertura mínima (rechaza el código si baja)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20440"/>
            <a:ext cx="5486400" cy="1188720"/>
          </a:xfrm>
          <a:prstGeom prst="rect">
            <a:avLst/>
          </a:prstGeom>
          <a:solidFill>
            <a:srgbClr val="FFFFFF"/>
          </a:solidFill>
          <a:ln w="17780">
            <a:solidFill>
              <a:srgbClr val="0A8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611880"/>
            <a:ext cx="21031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 i="0">
                <a:solidFill>
                  <a:srgbClr val="0A8478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611880"/>
            <a:ext cx="30175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0F2A36"/>
                </a:solidFill>
                <a:latin typeface="Calibri"/>
              </a:rPr>
              <a:t>robots de auto-deploy (CI/CD, GitHub Actions)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520440"/>
            <a:ext cx="5486400" cy="1188720"/>
          </a:xfrm>
          <a:prstGeom prst="rect">
            <a:avLst/>
          </a:prstGeom>
          <a:solidFill>
            <a:srgbClr val="FFFFFF"/>
          </a:solidFill>
          <a:ln w="17780">
            <a:solidFill>
              <a:srgbClr val="0A8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611880"/>
            <a:ext cx="21031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 i="0">
                <a:solidFill>
                  <a:srgbClr val="0A8478"/>
                </a:solidFill>
                <a:latin typeface="Calibri"/>
              </a:rPr>
              <a:t>RLS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611880"/>
            <a:ext cx="30175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0F2A36"/>
                </a:solidFill>
                <a:latin typeface="Calibri"/>
              </a:rPr>
              <a:t>cada paciente y médico solo ve LO SUYO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120640"/>
            <a:ext cx="11247120" cy="822960"/>
          </a:xfrm>
          <a:prstGeom prst="rect">
            <a:avLst/>
          </a:prstGeom>
          <a:solidFill>
            <a:srgbClr val="F4F7F8"/>
          </a:solidFill>
          <a:ln w="12700">
            <a:solidFill>
              <a:srgbClr val="0A8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30368"/>
            <a:ext cx="10881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0F2A36"/>
                </a:solidFill>
                <a:latin typeface="Calibri"/>
              </a:rPr>
              <a:t>Herramientas: Vitest · SonarCloud · Supabase (Auth + RLS) · GitHub Actions · Railway.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4A6B7A"/>
                </a:solidFill>
                <a:latin typeface="Calibri"/>
              </a:rPr>
              <a:t>Ashley (QA) — 30s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4A6B7A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280160" cy="347472"/>
          </a:xfrm>
          <a:prstGeom prst="round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F2A36"/>
                </a:solidFill>
                <a:latin typeface="Calibri"/>
              </a:rPr>
              <a:t>Ya no es un ejercicio de clase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>
                <a:solidFill>
                  <a:srgbClr val="0F2A36"/>
                </a:solidFill>
                <a:latin typeface="Calibri"/>
              </a:rPr>
              <a:t>•  Un sistema DESPLEGADO, en producción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0F2A36"/>
                </a:solidFill>
                <a:latin typeface="Calibri"/>
              </a:rPr>
              <a:t>•  PROBADO por alguien ajeno al equipo (un médico real)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0F2A36"/>
                </a:solidFill>
                <a:latin typeface="Calibri"/>
              </a:rPr>
              <a:t>•  Funcionando de forma AUTÓNOMA (notificaciones que corren solas)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0F2A36"/>
                </a:solidFill>
                <a:latin typeface="Calibri"/>
              </a:rPr>
              <a:t>•  Resuelve un problema real en Panamá: agendar una cita no debería tomar más de 2 minutos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709160"/>
            <a:ext cx="11247120" cy="1234440"/>
          </a:xfrm>
          <a:prstGeom prst="rect">
            <a:avLst/>
          </a:prstGeom>
          <a:solidFill>
            <a:srgbClr val="F34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Pruébenlo ustedes mismos ahora: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30368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helios-web-production.up.railway.app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5332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0F2A36"/>
                </a:solidFill>
                <a:latin typeface="Calibri"/>
              </a:rPr>
              <a:t>Gracias.  ¿Preguntas?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4A6B7A"/>
                </a:solidFill>
                <a:latin typeface="Calibri"/>
              </a:rPr>
              <a:t>Marian (Scrum Master) — 30s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4A6B7A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